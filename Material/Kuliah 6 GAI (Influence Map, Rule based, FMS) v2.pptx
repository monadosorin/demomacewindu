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52"/>
  </p:notesMasterIdLst>
  <p:sldIdLst>
    <p:sldId id="256" r:id="rId2"/>
    <p:sldId id="285" r:id="rId3"/>
    <p:sldId id="324" r:id="rId4"/>
    <p:sldId id="306" r:id="rId5"/>
    <p:sldId id="307" r:id="rId6"/>
    <p:sldId id="280" r:id="rId7"/>
    <p:sldId id="282" r:id="rId8"/>
    <p:sldId id="325" r:id="rId9"/>
    <p:sldId id="309" r:id="rId10"/>
    <p:sldId id="310" r:id="rId11"/>
    <p:sldId id="311" r:id="rId12"/>
    <p:sldId id="284" r:id="rId13"/>
    <p:sldId id="283" r:id="rId14"/>
    <p:sldId id="315" r:id="rId15"/>
    <p:sldId id="314" r:id="rId16"/>
    <p:sldId id="291" r:id="rId17"/>
    <p:sldId id="294" r:id="rId18"/>
    <p:sldId id="287" r:id="rId19"/>
    <p:sldId id="288" r:id="rId20"/>
    <p:sldId id="290" r:id="rId21"/>
    <p:sldId id="295" r:id="rId22"/>
    <p:sldId id="259" r:id="rId23"/>
    <p:sldId id="262" r:id="rId24"/>
    <p:sldId id="265" r:id="rId25"/>
    <p:sldId id="264" r:id="rId26"/>
    <p:sldId id="269" r:id="rId27"/>
    <p:sldId id="336" r:id="rId28"/>
    <p:sldId id="268" r:id="rId29"/>
    <p:sldId id="267" r:id="rId30"/>
    <p:sldId id="337" r:id="rId31"/>
    <p:sldId id="257" r:id="rId32"/>
    <p:sldId id="258" r:id="rId33"/>
    <p:sldId id="338" r:id="rId34"/>
    <p:sldId id="335" r:id="rId35"/>
    <p:sldId id="339" r:id="rId36"/>
    <p:sldId id="340" r:id="rId37"/>
    <p:sldId id="349" r:id="rId38"/>
    <p:sldId id="352" r:id="rId39"/>
    <p:sldId id="353" r:id="rId40"/>
    <p:sldId id="312" r:id="rId41"/>
    <p:sldId id="322" r:id="rId42"/>
    <p:sldId id="359" r:id="rId43"/>
    <p:sldId id="360" r:id="rId44"/>
    <p:sldId id="361" r:id="rId45"/>
    <p:sldId id="354" r:id="rId46"/>
    <p:sldId id="276" r:id="rId47"/>
    <p:sldId id="357" r:id="rId48"/>
    <p:sldId id="270" r:id="rId49"/>
    <p:sldId id="355" r:id="rId50"/>
    <p:sldId id="356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3E7ED"/>
    <a:srgbClr val="003300"/>
    <a:srgbClr val="00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75" autoAdjust="0"/>
  </p:normalViewPr>
  <p:slideViewPr>
    <p:cSldViewPr>
      <p:cViewPr varScale="1">
        <p:scale>
          <a:sx n="62" d="100"/>
          <a:sy n="62" d="100"/>
        </p:scale>
        <p:origin x="1352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D22BFF5-FF97-4131-84FF-F998EFBB18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971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902710-CDE8-46C9-A669-CE033FC37979}" type="slidenum">
              <a:rPr lang="en-US" smtClean="0">
                <a:latin typeface="Arial" panose="020B0604020202020204" pitchFamily="34" charset="0"/>
              </a:rPr>
              <a:pPr/>
              <a:t>1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27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DD976E-1D2D-4DDE-BFC7-DA8102FB6624}" type="slidenum">
              <a:rPr lang="en-US" smtClean="0">
                <a:latin typeface="Arial" panose="020B0604020202020204" pitchFamily="34" charset="0"/>
              </a:rPr>
              <a:pPr/>
              <a:t>2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762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E00E512-DB56-4E75-8CD7-D75E61431C5F}" type="slidenum">
              <a:rPr lang="en-US" smtClean="0">
                <a:latin typeface="Arial" panose="020B0604020202020204" pitchFamily="34" charset="0"/>
              </a:rPr>
              <a:pPr/>
              <a:t>3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403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7A401E-D670-4087-8620-2C15F57E4CE2}" type="slidenum">
              <a:rPr lang="en-US" smtClean="0">
                <a:latin typeface="Arial" panose="020B0604020202020204" pitchFamily="34" charset="0"/>
              </a:rPr>
              <a:pPr/>
              <a:t>4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882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C298F8-76FD-4ECB-BB87-A0DD7438029E}" type="slidenum">
              <a:rPr lang="en-US" smtClean="0">
                <a:latin typeface="Arial" panose="020B0604020202020204" pitchFamily="34" charset="0"/>
              </a:rPr>
              <a:pPr/>
              <a:t>5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144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A3F90E7-D156-4C40-8EAE-2B2F1E83210C}" type="slidenum">
              <a:rPr lang="en-US" smtClean="0">
                <a:latin typeface="Arial" panose="020B0604020202020204" pitchFamily="34" charset="0"/>
              </a:rPr>
              <a:pPr/>
              <a:t>8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980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776A517-A80A-48DD-BA0E-AB5F46197391}" type="slidenum">
              <a:rPr lang="en-US" smtClean="0">
                <a:latin typeface="Arial" panose="020B0604020202020204" pitchFamily="34" charset="0"/>
              </a:rPr>
              <a:pPr/>
              <a:t>9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Arial" panose="020B0604020202020204" pitchFamily="34" charset="0"/>
              </a:rPr>
              <a:t> &lt;</a:t>
            </a:r>
          </a:p>
        </p:txBody>
      </p:sp>
    </p:spTree>
    <p:extLst>
      <p:ext uri="{BB962C8B-B14F-4D97-AF65-F5344CB8AC3E}">
        <p14:creationId xmlns:p14="http://schemas.microsoft.com/office/powerpoint/2010/main" val="3698112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F1B0AD-6634-4AFC-A068-F6DFFF2721C0}" type="slidenum">
              <a:rPr lang="en-US" smtClean="0">
                <a:latin typeface="Arial" panose="020B0604020202020204" pitchFamily="34" charset="0"/>
              </a:rPr>
              <a:pPr/>
              <a:t>10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10" rIns="91417" bIns="45710"/>
          <a:lstStyle/>
          <a:p>
            <a:pPr eaLnBrk="1" hangingPunct="1"/>
            <a:r>
              <a:rPr lang="en-US">
                <a:latin typeface="Arial" panose="020B0604020202020204" pitchFamily="34" charset="0"/>
              </a:rPr>
              <a:t>If then rules</a:t>
            </a:r>
          </a:p>
          <a:p>
            <a:pPr eaLnBrk="1" hangingPunct="1"/>
            <a:r>
              <a:rPr lang="en-US">
                <a:latin typeface="Arial" panose="020B0604020202020204" pitchFamily="34" charset="0"/>
              </a:rPr>
              <a:t>No program counter – no sequential code</a:t>
            </a:r>
          </a:p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145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B9ED4D-65FD-4092-828C-8BB20D87CBFC}" type="slidenum">
              <a:rPr lang="en-US" smtClean="0">
                <a:latin typeface="Arial" panose="020B0604020202020204" pitchFamily="34" charset="0"/>
              </a:rPr>
              <a:pPr/>
              <a:t>11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5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48E23F-4F62-4365-827A-838729F7477C}" type="slidenum">
              <a:rPr lang="en-US" smtClean="0">
                <a:latin typeface="Arial" panose="020B0604020202020204" pitchFamily="34" charset="0"/>
              </a:rPr>
              <a:pPr/>
              <a:t>14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177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3D5E6B9-0745-4BDD-9A12-29DC41BDB30F}" type="slidenum">
              <a:rPr lang="en-US" smtClean="0">
                <a:latin typeface="Arial" panose="020B0604020202020204" pitchFamily="34" charset="0"/>
              </a:rPr>
              <a:pPr/>
              <a:t>15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130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3658FD4-89D1-B2DA-F5DA-0DDE3D6BAE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F3CAED-CE2A-4B52-8912-D7D8E42D4BB1}" type="slidenum">
              <a:rPr lang="en-AU" altLang="en-US"/>
              <a:pPr/>
              <a:t>24</a:t>
            </a:fld>
            <a:endParaRPr lang="en-AU" altLang="en-US"/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18AB2320-4517-460D-90DB-6C646EF755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7ECB149B-5335-CCDE-7F45-FA433FE21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E5ADB29-EFC3-7648-B2E6-34D23B032D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33BCB0-01E8-438C-A8EE-E70DFFBEBCEF}" type="slidenum">
              <a:rPr lang="en-AU" altLang="en-US"/>
              <a:pPr/>
              <a:t>25</a:t>
            </a:fld>
            <a:endParaRPr lang="en-AU" altLang="en-US"/>
          </a:p>
        </p:txBody>
      </p:sp>
      <p:sp>
        <p:nvSpPr>
          <p:cNvPr id="161794" name="Rectangle 2">
            <a:extLst>
              <a:ext uri="{FF2B5EF4-FFF2-40B4-BE49-F238E27FC236}">
                <a16:creationId xmlns:a16="http://schemas.microsoft.com/office/drawing/2014/main" id="{4D4A55D2-6CDD-0CB2-C46B-74A2BCA854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80A9EC83-C167-BD38-6ECB-A58E9D9C9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536F470-7633-8A6C-3D80-F6AE1FD3C9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204349-B845-4E9A-A1DC-D6D62A7CFD55}" type="slidenum">
              <a:rPr lang="en-AU" altLang="en-US"/>
              <a:pPr/>
              <a:t>26</a:t>
            </a:fld>
            <a:endParaRPr lang="en-AU" altLang="en-US"/>
          </a:p>
        </p:txBody>
      </p:sp>
      <p:sp>
        <p:nvSpPr>
          <p:cNvPr id="171010" name="Rectangle 2">
            <a:extLst>
              <a:ext uri="{FF2B5EF4-FFF2-40B4-BE49-F238E27FC236}">
                <a16:creationId xmlns:a16="http://schemas.microsoft.com/office/drawing/2014/main" id="{85115A49-0FC0-6EB6-551E-58BD981A04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5D1E35D7-C2C6-9426-74F9-0C4302E2E4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11C13B-C49D-4FA0-6E58-E861E5353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54BA81-C20D-4CB5-BD8C-44D4FA5DE9BD}" type="slidenum">
              <a:rPr lang="en-AU" altLang="en-US"/>
              <a:pPr/>
              <a:t>28</a:t>
            </a:fld>
            <a:endParaRPr lang="en-AU" altLang="en-US"/>
          </a:p>
        </p:txBody>
      </p:sp>
      <p:sp>
        <p:nvSpPr>
          <p:cNvPr id="167938" name="Rectangle 2">
            <a:extLst>
              <a:ext uri="{FF2B5EF4-FFF2-40B4-BE49-F238E27FC236}">
                <a16:creationId xmlns:a16="http://schemas.microsoft.com/office/drawing/2014/main" id="{C27C79DC-3725-6CD1-851C-1E441C707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D5CCBE05-B9B4-C562-4590-4E5135848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096CFD8-0163-A347-E088-F0BEE0E0B0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88B7EA-1876-4305-98EA-44C0D1F81576}" type="slidenum">
              <a:rPr lang="en-AU" altLang="en-US"/>
              <a:pPr/>
              <a:t>29</a:t>
            </a:fld>
            <a:endParaRPr lang="en-AU" altLang="en-US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9975B693-7F00-35EF-FF2B-3B9416692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BE06EBF6-1AC0-6C04-E6ED-EA4E16478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6F90D8-680F-4660-8BA8-894F65757289}" type="slidenum">
              <a:rPr lang="en-US" smtClean="0">
                <a:latin typeface="Arial" panose="020B0604020202020204" pitchFamily="34" charset="0"/>
              </a:rPr>
              <a:pPr/>
              <a:t>30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7177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8A6F9A-8AEE-4017-98B7-9D685C69C07A}" type="slidenum">
              <a:rPr lang="en-US" smtClean="0">
                <a:latin typeface="Arial" panose="020B0604020202020204" pitchFamily="34" charset="0"/>
              </a:rPr>
              <a:pPr/>
              <a:t>34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2985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B37D09-D0D2-4E30-928B-0F9121E46084}" type="slidenum">
              <a:rPr lang="en-US" smtClean="0">
                <a:latin typeface="Arial" panose="020B0604020202020204" pitchFamily="34" charset="0"/>
              </a:rPr>
              <a:pPr/>
              <a:t>35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731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BEE4A63-D219-4271-96E4-1CFB311C0F0E}" type="slidenum">
              <a:rPr lang="en-US" smtClean="0">
                <a:latin typeface="Arial" panose="020B0604020202020204" pitchFamily="34" charset="0"/>
              </a:rPr>
              <a:pPr/>
              <a:t>36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388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133B42-3A4B-45F2-AAF5-FBDBDA42CF11}" type="slidenum">
              <a:rPr lang="en-US" smtClean="0">
                <a:latin typeface="Arial" panose="020B0604020202020204" pitchFamily="34" charset="0"/>
              </a:rPr>
              <a:pPr/>
              <a:t>40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0152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F0A002C-043C-4557-ADAB-55DF657D0755}" type="slidenum">
              <a:rPr lang="en-US" smtClean="0">
                <a:latin typeface="Arial" panose="020B0604020202020204" pitchFamily="34" charset="0"/>
              </a:rPr>
              <a:pPr/>
              <a:t>41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952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C0F30F4-2780-BEA0-65B9-A014AE7E6E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35A431-9981-4185-A64C-9A3B5B5CB91B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83A29E62-47DC-4205-15FA-ED53046696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29F399F-E98D-8B9B-092F-A9BB85633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89913" tIns="44956" rIns="89913" bIns="44956"/>
          <a:lstStyle/>
          <a:p>
            <a:r>
              <a:rPr lang="en-US" altLang="en-US"/>
              <a:t>If two arcs are two, pick according to probability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C2125ADA-014C-871F-F144-B62BC15D93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32AF6EBF-D254-02AC-BCC9-43A0542D9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1B334EE3-78EE-163E-76E7-0F905B326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EE48B2C-9376-4599-A1DF-091EDE72B950}" type="slidenum">
              <a:rPr lang="en-US" altLang="en-US">
                <a:latin typeface="Arial" panose="020B0604020202020204" pitchFamily="34" charset="0"/>
              </a:rPr>
              <a:pPr/>
              <a:t>50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81000" y="990600"/>
            <a:ext cx="76200" cy="5105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en-US" sz="2400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381000" y="304800"/>
            <a:ext cx="8391525" cy="5791200"/>
            <a:chOff x="240" y="192"/>
            <a:chExt cx="5286" cy="3648"/>
          </a:xfrm>
        </p:grpSpPr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 flipV="1">
              <a:off x="5236" y="192"/>
              <a:ext cx="288" cy="288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sz="2400"/>
            </a:p>
          </p:txBody>
        </p: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 flipV="1">
              <a:off x="240" y="192"/>
              <a:ext cx="5004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sz="2400"/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 flipV="1">
              <a:off x="240" y="480"/>
              <a:ext cx="5004" cy="14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sz="2400"/>
            </a:p>
          </p:txBody>
        </p:sp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 flipV="1">
              <a:off x="5242" y="480"/>
              <a:ext cx="282" cy="14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sz="2400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 flipH="1">
              <a:off x="480" y="2256"/>
              <a:ext cx="48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40" y="192"/>
              <a:ext cx="5286" cy="36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sz="2400"/>
            </a:p>
          </p:txBody>
        </p:sp>
      </p:grpSp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1371600"/>
            <a:ext cx="7696200" cy="2057400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62000" y="3765550"/>
            <a:ext cx="7696200" cy="20574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9F7ED876-12AF-4B0C-8621-DBC75E19B3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D9881-5BA9-36FD-E77A-9AE8F2CDF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675" y="31750"/>
            <a:ext cx="822325" cy="7826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0AB40A-B370-4498-6CB6-DC1148ECE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" y="11071"/>
            <a:ext cx="2316602" cy="739857"/>
          </a:xfrm>
          <a:prstGeom prst="rect">
            <a:avLst/>
          </a:prstGeom>
        </p:spPr>
      </p:pic>
      <p:pic>
        <p:nvPicPr>
          <p:cNvPr id="18" name="Google Shape;26;p12">
            <a:extLst>
              <a:ext uri="{FF2B5EF4-FFF2-40B4-BE49-F238E27FC236}">
                <a16:creationId xmlns:a16="http://schemas.microsoft.com/office/drawing/2014/main" id="{8387BC97-968D-FBBC-C2A3-CD17BD1FAB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6234741"/>
            <a:ext cx="1479052" cy="242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129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E48F8-4E02-4159-81CC-36D767E32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8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84630-2B03-4F39-81FD-E327C61ADD0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6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302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302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0BAE2-40C3-44FA-855C-5D298832975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7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4250D-6B95-41DA-9218-F06345A342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67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81E848-1200-48E4-99F5-352EB0FEB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7C8F-D404-45FA-8602-737806F17A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04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93C97-3B8F-486D-91FF-346E762C7F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1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3A7A2-A336-44FE-90B0-8B9CD7162DE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26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BC693-EACE-4A69-98C9-93E5B0219E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2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597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9800" cy="5597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0572B-90D9-40FF-BF87-5F5D4005F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828800"/>
            <a:ext cx="4038600" cy="43021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828800"/>
            <a:ext cx="4038600" cy="4302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87E0C-92A9-40BE-963D-3E15B6C106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4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302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302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59FBD-EAB4-4C16-A546-FF411D6746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1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05B8653-B6AE-472C-86A8-B7201574D9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79400" y="152400"/>
            <a:ext cx="8686800" cy="1600200"/>
            <a:chOff x="176" y="96"/>
            <a:chExt cx="5472" cy="1008"/>
          </a:xfrm>
        </p:grpSpPr>
        <p:sp>
          <p:nvSpPr>
            <p:cNvPr id="1032" name="Line 8"/>
            <p:cNvSpPr>
              <a:spLocks noChangeShapeType="1"/>
            </p:cNvSpPr>
            <p:nvPr/>
          </p:nvSpPr>
          <p:spPr bwMode="auto">
            <a:xfrm flipH="1">
              <a:off x="288" y="1104"/>
              <a:ext cx="52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5504" y="96"/>
              <a:ext cx="144" cy="14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sz="2400"/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176" y="96"/>
              <a:ext cx="5326" cy="14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sz="2400"/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>
              <a:off x="176" y="240"/>
              <a:ext cx="5326" cy="88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sz="2400"/>
            </a:p>
          </p:txBody>
        </p:sp>
        <p:sp>
          <p:nvSpPr>
            <p:cNvPr id="1036" name="Rectangle 12"/>
            <p:cNvSpPr>
              <a:spLocks noChangeArrowheads="1"/>
            </p:cNvSpPr>
            <p:nvPr/>
          </p:nvSpPr>
          <p:spPr bwMode="auto">
            <a:xfrm>
              <a:off x="5504" y="241"/>
              <a:ext cx="144" cy="8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sz="240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C277F17-2C13-203A-FDD3-8064B8F1DCB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19529" cy="581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A82587-BCD1-2498-A630-26BC06C17DC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-6350"/>
            <a:ext cx="657225" cy="62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2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o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7950" indent="-4683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213" indent="-4381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97113" indent="-46831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reillynet.com/cs/catalog/view/au/1839?x-t=book.view" TargetMode="External"/><Relationship Id="rId5" Type="http://schemas.openxmlformats.org/officeDocument/2006/relationships/hyperlink" Target="http://www.oreillynet.com/cs/catalog/view/au/702?x-t=book.view" TargetMode="External"/><Relationship Id="rId4" Type="http://schemas.openxmlformats.org/officeDocument/2006/relationships/hyperlink" Target="Rule%20based%20example/rules2.ex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wmf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amasutra.com/view/feature/130279/creating_all_humans_a_datadriven_.php" TargetMode="External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9DC6FF-AEA0-47B0-8E69-028B1C96EBC4}" type="slidenum">
              <a:rPr lang="en-US" smtClean="0">
                <a:latin typeface="Arial" panose="020B0604020202020204" pitchFamily="34" charset="0"/>
              </a:rPr>
              <a:pPr/>
              <a:t>1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4099" name="Picture 4"/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562600" y="1129782"/>
            <a:ext cx="3036041" cy="1518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5"/>
          <p:cNvPicPr>
            <a:picLocks noChangeAspect="1" noChangeArrowheads="1"/>
          </p:cNvPicPr>
          <p:nvPr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81400" y="2705001"/>
            <a:ext cx="2698703" cy="151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6"/>
          <p:cNvPicPr>
            <a:picLocks noChangeAspect="1" noChangeArrowheads="1"/>
          </p:cNvPicPr>
          <p:nvPr/>
        </p:nvPicPr>
        <p:blipFill>
          <a:blip r:embed="rId5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43200" y="4370697"/>
            <a:ext cx="2743200" cy="1543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7"/>
          <p:cNvPicPr>
            <a:picLocks noChangeAspect="1" noChangeArrowheads="1"/>
          </p:cNvPicPr>
          <p:nvPr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323181" y="1180346"/>
            <a:ext cx="2182019" cy="1636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8"/>
          <p:cNvPicPr>
            <a:picLocks noChangeAspect="1" noChangeArrowheads="1"/>
          </p:cNvPicPr>
          <p:nvPr/>
        </p:nvPicPr>
        <p:blipFill>
          <a:blip r:embed="rId7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50862" y="2989262"/>
            <a:ext cx="1963738" cy="196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9"/>
          <p:cNvPicPr>
            <a:picLocks noChangeAspect="1" noChangeArrowheads="1"/>
          </p:cNvPicPr>
          <p:nvPr/>
        </p:nvPicPr>
        <p:blipFill>
          <a:blip r:embed="rId8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791201" y="4370696"/>
            <a:ext cx="274320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52600" y="2705001"/>
            <a:ext cx="5257800" cy="990600"/>
          </a:xfrm>
        </p:spPr>
        <p:txBody>
          <a:bodyPr/>
          <a:lstStyle/>
          <a:p>
            <a:pPr eaLnBrk="1" hangingPunct="1"/>
            <a:r>
              <a:rPr lang="en-US" sz="6000" b="1" dirty="0">
                <a:solidFill>
                  <a:srgbClr val="008000"/>
                </a:solidFill>
              </a:rPr>
              <a:t>Game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Turn Base Games Achievement 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70075"/>
            <a:ext cx="8229600" cy="4302125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200" b="1"/>
              <a:t>Checkers:</a:t>
            </a:r>
            <a:r>
              <a:rPr lang="en-US" sz="2200"/>
              <a:t> Chinook ended 40-year-reign of human world champion Marion Tinsley in 1994. Used a precomputed endgame database defining perfect play for all positions involving 8 or fewer pieces on the board, a total of 444 billion positions.</a:t>
            </a:r>
            <a:endParaRPr lang="en-US" sz="2200" b="1"/>
          </a:p>
          <a:p>
            <a:pPr algn="just" eaLnBrk="1" hangingPunct="1">
              <a:lnSpc>
                <a:spcPct val="80000"/>
              </a:lnSpc>
            </a:pPr>
            <a:r>
              <a:rPr lang="en-US" sz="2200" b="1"/>
              <a:t>Chess:</a:t>
            </a:r>
            <a:r>
              <a:rPr lang="en-US" sz="2200"/>
              <a:t> Deep Blue defeated human world champion Garry Kasparov in a six-game match in 1997. Deep Blue searches </a:t>
            </a:r>
            <a:r>
              <a:rPr lang="en-US" sz="2200" b="1"/>
              <a:t>200 million positions</a:t>
            </a:r>
            <a:r>
              <a:rPr lang="en-US" sz="2200"/>
              <a:t> </a:t>
            </a:r>
            <a:r>
              <a:rPr lang="en-US" sz="2200" b="1"/>
              <a:t>per second</a:t>
            </a:r>
            <a:r>
              <a:rPr lang="en-US" sz="2200"/>
              <a:t>, uses very sophisticated evaluation, and undisclosed methods for extending some lines of search up to 40 ply.</a:t>
            </a:r>
            <a:endParaRPr lang="en-US" sz="2200" b="1"/>
          </a:p>
          <a:p>
            <a:pPr algn="just" eaLnBrk="1" hangingPunct="1">
              <a:lnSpc>
                <a:spcPct val="80000"/>
              </a:lnSpc>
            </a:pPr>
            <a:r>
              <a:rPr lang="en-US" sz="2200" b="1"/>
              <a:t>Backgammon: </a:t>
            </a:r>
            <a:r>
              <a:rPr lang="en-US" sz="2200"/>
              <a:t>T</a:t>
            </a:r>
            <a:r>
              <a:rPr lang="en-US" sz="2200" i="1"/>
              <a:t>D-Gammon 1992, </a:t>
            </a:r>
            <a:r>
              <a:rPr lang="en-US" sz="2200"/>
              <a:t>Reliably ranked in top-three players of world.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200" b="1"/>
              <a:t>Othello:</a:t>
            </a:r>
            <a:r>
              <a:rPr lang="en-US" sz="2200"/>
              <a:t> human champions refuse to compete against computers, who are too good.</a:t>
            </a:r>
            <a:endParaRPr lang="en-US" sz="2200" b="1"/>
          </a:p>
          <a:p>
            <a:pPr algn="just" eaLnBrk="1" hangingPunct="1">
              <a:lnSpc>
                <a:spcPct val="80000"/>
              </a:lnSpc>
            </a:pPr>
            <a:r>
              <a:rPr lang="en-US" sz="2200" b="1"/>
              <a:t>Go:</a:t>
            </a:r>
            <a:r>
              <a:rPr lang="en-US" sz="2200"/>
              <a:t> human champions refuse to compete against computers, who are too bad.</a:t>
            </a:r>
          </a:p>
        </p:txBody>
      </p:sp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9D9998-0439-4AA5-BD3F-68B952F1651D}" type="slidenum">
              <a:rPr lang="en-US" smtClean="0">
                <a:latin typeface="Arial" panose="020B0604020202020204" pitchFamily="34" charset="0"/>
              </a:rPr>
              <a:pPr/>
              <a:t>2</a:t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/>
          <a:lstStyle/>
          <a:p>
            <a:pPr eaLnBrk="1" hangingPunct="1"/>
            <a:r>
              <a:rPr lang="en-US" sz="4000" dirty="0"/>
              <a:t>Real Time Games</a:t>
            </a:r>
          </a:p>
        </p:txBody>
      </p:sp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B180B97-3501-45D9-807F-E84E43BED838}" type="slidenum">
              <a:rPr lang="en-US" smtClean="0">
                <a:latin typeface="Arial" panose="020B0604020202020204" pitchFamily="34" charset="0"/>
              </a:rPr>
              <a:pPr/>
              <a:t>3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05477" name="Picture 5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33800" y="3833192"/>
            <a:ext cx="5334000" cy="2948608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76" name="Picture 4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384" y="1524000"/>
            <a:ext cx="4724400" cy="2755900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0" y="4315003"/>
            <a:ext cx="33175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dirty="0"/>
              <a:t>Warhammer 4K: Dawn of War IV</a:t>
            </a:r>
          </a:p>
        </p:txBody>
      </p:sp>
      <p:sp>
        <p:nvSpPr>
          <p:cNvPr id="105479" name="Text Box 7"/>
          <p:cNvSpPr txBox="1">
            <a:spLocks noChangeArrowheads="1"/>
          </p:cNvSpPr>
          <p:nvPr/>
        </p:nvSpPr>
        <p:spPr bwMode="auto">
          <a:xfrm>
            <a:off x="1905000" y="6415088"/>
            <a:ext cx="173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dirty="0"/>
              <a:t>Street Fighter VI</a:t>
            </a:r>
          </a:p>
        </p:txBody>
      </p:sp>
      <p:pic>
        <p:nvPicPr>
          <p:cNvPr id="3" name="Picture 2" descr="A group of people in a street&#10;&#10;AI-generated content may be incorrect.">
            <a:extLst>
              <a:ext uri="{FF2B5EF4-FFF2-40B4-BE49-F238E27FC236}">
                <a16:creationId xmlns:a16="http://schemas.microsoft.com/office/drawing/2014/main" id="{B929F8D0-FF19-838C-1DA7-1489A0D5EE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8195" y="640756"/>
            <a:ext cx="4559605" cy="2560536"/>
          </a:xfrm>
          <a:prstGeom prst="rect">
            <a:avLst/>
          </a:prstGeom>
        </p:spPr>
      </p:pic>
      <p:sp>
        <p:nvSpPr>
          <p:cNvPr id="4" name="Text Box 7">
            <a:extLst>
              <a:ext uri="{FF2B5EF4-FFF2-40B4-BE49-F238E27FC236}">
                <a16:creationId xmlns:a16="http://schemas.microsoft.com/office/drawing/2014/main" id="{B2295CBE-2808-4F89-7B18-DCA33DF1D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201292"/>
            <a:ext cx="16081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dirty="0"/>
              <a:t>Resident Evil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9" name="Picture 5" descr="age-of-empires-3-2005"/>
          <p:cNvPicPr>
            <a:picLocks noChangeAspect="1" noChangeArrowheads="1"/>
          </p:cNvPicPr>
          <p:nvPr/>
        </p:nvPicPr>
        <p:blipFill>
          <a:blip r:embed="rId3">
            <a:lum bright="50000" contrast="-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3000" y="1870075"/>
            <a:ext cx="65532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Real Time Abstract Controller</a:t>
            </a:r>
          </a:p>
        </p:txBody>
      </p:sp>
      <p:sp>
        <p:nvSpPr>
          <p:cNvPr id="70660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382000" cy="4302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 dirty="0"/>
              <a:t>Can we use Minimax or its variants?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dirty="0" err="1"/>
              <a:t>Theoritically</a:t>
            </a:r>
            <a:r>
              <a:rPr lang="en-US" sz="3200" dirty="0"/>
              <a:t>, Yes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800" dirty="0"/>
              <a:t>Multi Thread.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800" dirty="0" err="1"/>
              <a:t>CutOff</a:t>
            </a:r>
            <a:r>
              <a:rPr lang="en-US" sz="2800" dirty="0"/>
              <a:t> Test &amp; Eval Function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dirty="0"/>
              <a:t>But, no real time games used it. Why?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dirty="0"/>
              <a:t>Real Time Games needs to use all of computer resources for everything (Graphics rendering, Sound, Action Oriented AI, </a:t>
            </a:r>
            <a:r>
              <a:rPr lang="en-US" sz="3200" dirty="0" err="1"/>
              <a:t>etc</a:t>
            </a:r>
            <a:r>
              <a:rPr lang="en-US" sz="3200" dirty="0"/>
              <a:t>) </a:t>
            </a:r>
            <a:r>
              <a:rPr lang="en-US" sz="3200" b="1" dirty="0"/>
              <a:t>at the same time</a:t>
            </a:r>
            <a:r>
              <a:rPr lang="en-US" sz="32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sz="3600" dirty="0"/>
          </a:p>
        </p:txBody>
      </p:sp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FAD5C2-1552-4768-AC41-2A0881A96634}" type="slidenum">
              <a:rPr lang="en-US" smtClean="0">
                <a:latin typeface="Arial" panose="020B0604020202020204" pitchFamily="34" charset="0"/>
              </a:rPr>
              <a:pPr/>
              <a:t>4</a:t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4" name="Picture 64" descr="monkey"/>
          <p:cNvPicPr>
            <a:picLocks noChangeAspect="1" noChangeArrowheads="1"/>
          </p:cNvPicPr>
          <p:nvPr/>
        </p:nvPicPr>
        <p:blipFill>
          <a:blip r:embed="rId3">
            <a:lum bright="5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28638"/>
            <a:ext cx="9144000" cy="634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914400"/>
          </a:xfrm>
        </p:spPr>
        <p:txBody>
          <a:bodyPr/>
          <a:lstStyle/>
          <a:p>
            <a:pPr eaLnBrk="1" hangingPunct="1"/>
            <a:r>
              <a:rPr lang="en-US"/>
              <a:t>Real Time Abstract Controller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3124200" cy="685800"/>
          </a:xfrm>
        </p:spPr>
        <p:txBody>
          <a:bodyPr/>
          <a:lstStyle/>
          <a:p>
            <a:pPr eaLnBrk="1" hangingPunct="1"/>
            <a:r>
              <a:rPr lang="en-US" sz="2000" b="1" dirty="0"/>
              <a:t>Rule Base System</a:t>
            </a:r>
          </a:p>
          <a:p>
            <a:pPr eaLnBrk="1" hangingPunct="1"/>
            <a:r>
              <a:rPr lang="en-US" sz="2000" b="1" dirty="0"/>
              <a:t>Machine Learning</a:t>
            </a:r>
          </a:p>
          <a:p>
            <a:pPr eaLnBrk="1" hangingPunct="1"/>
            <a:endParaRPr lang="en-US" sz="2000" dirty="0"/>
          </a:p>
        </p:txBody>
      </p:sp>
      <p:graphicFrame>
        <p:nvGraphicFramePr>
          <p:cNvPr id="71749" name="Group 69"/>
          <p:cNvGraphicFramePr>
            <a:graphicFrameLocks noGrp="1"/>
          </p:cNvGraphicFramePr>
          <p:nvPr>
            <p:ph sz="half" idx="2"/>
          </p:nvPr>
        </p:nvGraphicFramePr>
        <p:xfrm>
          <a:off x="558800" y="2286000"/>
          <a:ext cx="7975600" cy="4432301"/>
        </p:xfrm>
        <a:graphic>
          <a:graphicData uri="http://schemas.openxmlformats.org/drawingml/2006/table">
            <a:tbl>
              <a:tblPr/>
              <a:tblGrid>
                <a:gridCol w="265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9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Technique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Games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Applications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4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Decision Tree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Black &amp;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Prediction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Classification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Learning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Neural Network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Black &amp; White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BC3K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Creature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Heavy Gear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Quake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Battlecruiser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Memory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Pattern recognition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Learning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Prediction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Classification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Behavioural control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8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Genetic Algorithm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Cloak &amp; Dagger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DNA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Creatures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Return Fire II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Optimisation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Learning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Developing game strategies</a:t>
                      </a: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Evolve </a:t>
                      </a: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behaviour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234950" marR="0" lvl="0" indent="-2349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Pathfinding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4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C99298-2937-46BC-AF70-532537E2CBB1}" type="slidenum">
              <a:rPr lang="en-US" smtClean="0">
                <a:latin typeface="Arial" panose="020B0604020202020204" pitchFamily="34" charset="0"/>
              </a:rPr>
              <a:pPr/>
              <a:t>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760F503-4E29-265E-9077-AE283FC5A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371600"/>
            <a:ext cx="3124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000" b="1" dirty="0"/>
              <a:t>Evolutionary Strategy</a:t>
            </a:r>
          </a:p>
          <a:p>
            <a:pPr eaLnBrk="1" hangingPunct="1"/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AI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 refer to AI systems that consist of a set of if-then (or if-else) style rules</a:t>
            </a:r>
          </a:p>
          <a:p>
            <a:r>
              <a:rPr lang="en-US" dirty="0"/>
              <a:t>Technically, FSMs and DTs are types of rule-based systems. Rules are used to handle state transitions and decision nodes</a:t>
            </a:r>
          </a:p>
          <a:p>
            <a:r>
              <a:rPr lang="en-US" dirty="0"/>
              <a:t>But more specifically, </a:t>
            </a:r>
            <a:r>
              <a:rPr lang="en-US" b="1" dirty="0"/>
              <a:t>“rule-based systems” </a:t>
            </a:r>
            <a:r>
              <a:rPr lang="en-US" dirty="0"/>
              <a:t>are also commonly referred to its usage in </a:t>
            </a:r>
            <a:r>
              <a:rPr lang="en-US" b="1" dirty="0"/>
              <a:t>expert systems</a:t>
            </a:r>
            <a:endParaRPr lang="en-MY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Systems for Games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Rule-based systems are useful in GAMES…</a:t>
            </a:r>
          </a:p>
          <a:p>
            <a:pPr lvl="1"/>
            <a:r>
              <a:rPr lang="en-US" dirty="0"/>
              <a:t>Because knowledge encoded in rules is modular</a:t>
            </a:r>
          </a:p>
          <a:p>
            <a:pPr lvl="1"/>
            <a:r>
              <a:rPr lang="en-US" dirty="0"/>
              <a:t>Rules can be encoded in any order </a:t>
            </a:r>
            <a:r>
              <a:rPr lang="en-US" dirty="0">
                <a:sym typeface="Wingdings" pitchFamily="2" charset="2"/>
              </a:rPr>
              <a:t> flexible for coding and modifying the system at a later time</a:t>
            </a:r>
          </a:p>
          <a:p>
            <a:r>
              <a:rPr lang="en-US" dirty="0">
                <a:sym typeface="Wingdings" pitchFamily="2" charset="2"/>
              </a:rPr>
              <a:t>Let’s look at a game example that can use a rule-based system…</a:t>
            </a:r>
            <a:endParaRPr lang="en-US" dirty="0"/>
          </a:p>
          <a:p>
            <a:endParaRPr lang="en-MY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solidFill>
                  <a:schemeClr val="tx1"/>
                </a:solidFill>
              </a:rPr>
              <a:t>Example: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Fighting Game Strike Prediction</a:t>
            </a:r>
          </a:p>
        </p:txBody>
      </p:sp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537A79-B2B9-4201-B652-0EF41B62EBC2}" type="slidenum">
              <a:rPr lang="en-US" smtClean="0">
                <a:latin typeface="Arial" panose="020B0604020202020204" pitchFamily="34" charset="0"/>
              </a:rPr>
              <a:pPr/>
              <a:t>8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06500" name="Picture 4" descr="street-fighter-4-gameplay1"/>
          <p:cNvPicPr>
            <a:picLocks noChangeAspect="1" noChangeArrowheads="1"/>
          </p:cNvPicPr>
          <p:nvPr/>
        </p:nvPicPr>
        <p:blipFill>
          <a:blip r:embed="rId3">
            <a:lum contras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2133600"/>
            <a:ext cx="5867400" cy="3638550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6096000" y="1981200"/>
            <a:ext cx="2971800" cy="381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4950" indent="-2349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b="1" dirty="0"/>
              <a:t>Kungfu Gameboy</a:t>
            </a:r>
          </a:p>
          <a:p>
            <a:pPr>
              <a:buFontTx/>
              <a:buChar char="•"/>
            </a:pPr>
            <a:r>
              <a:rPr lang="en-US" sz="2000" dirty="0"/>
              <a:t>Use 27 rules to capture all possible three-strike combinations of punch, low kick, and high kick.</a:t>
            </a:r>
          </a:p>
          <a:p>
            <a:pPr>
              <a:buFontTx/>
              <a:buChar char="•"/>
            </a:pPr>
            <a:r>
              <a:rPr lang="en-US" sz="2000" dirty="0"/>
              <a:t>Use the rules to predict next enemy strikes. </a:t>
            </a:r>
          </a:p>
          <a:p>
            <a:pPr>
              <a:buFontTx/>
              <a:buChar char="•"/>
            </a:pPr>
            <a:r>
              <a:rPr lang="en-US" sz="2000" dirty="0">
                <a:hlinkClick r:id="rId4" action="ppaction://hlinkfile"/>
              </a:rPr>
              <a:t>Rule based example</a:t>
            </a:r>
            <a:endParaRPr lang="en-US" sz="2000" dirty="0"/>
          </a:p>
          <a:p>
            <a:pPr>
              <a:buFontTx/>
              <a:buChar char="•"/>
            </a:pPr>
            <a:r>
              <a:rPr lang="en-US" sz="2000" dirty="0"/>
              <a:t>Read:</a:t>
            </a:r>
          </a:p>
          <a:p>
            <a:r>
              <a:rPr lang="en-US" sz="1600" dirty="0"/>
              <a:t>	</a:t>
            </a:r>
            <a:r>
              <a:rPr lang="en-US" sz="1400" b="1" dirty="0"/>
              <a:t>AI for Game Developers</a:t>
            </a:r>
            <a:r>
              <a:rPr lang="en-US" sz="1400" dirty="0"/>
              <a:t> </a:t>
            </a:r>
            <a:r>
              <a:rPr lang="en-US" sz="1400" b="1" dirty="0"/>
              <a:t>(2004)</a:t>
            </a:r>
          </a:p>
          <a:p>
            <a:r>
              <a:rPr lang="en-US" sz="1400" b="1" dirty="0"/>
              <a:t>	By </a:t>
            </a:r>
            <a:r>
              <a:rPr lang="en-US" sz="1400" b="1" dirty="0">
                <a:hlinkClick r:id="rId5"/>
              </a:rPr>
              <a:t>David M. Bourg</a:t>
            </a:r>
            <a:r>
              <a:rPr lang="en-US" sz="1400" b="1" dirty="0"/>
              <a:t> &amp;  	</a:t>
            </a:r>
            <a:r>
              <a:rPr lang="en-US" sz="1400" b="1" dirty="0">
                <a:hlinkClick r:id="rId6"/>
              </a:rPr>
              <a:t>Glenn Seeman</a:t>
            </a:r>
            <a:r>
              <a:rPr lang="en-US" sz="1400" dirty="0"/>
              <a:t> </a:t>
            </a:r>
          </a:p>
          <a:p>
            <a:r>
              <a:rPr lang="en-US" sz="1400" dirty="0"/>
              <a:t>	</a:t>
            </a:r>
            <a:r>
              <a:rPr lang="en-US" sz="1400" b="1" dirty="0"/>
              <a:t>Chapter 11.</a:t>
            </a:r>
          </a:p>
        </p:txBody>
      </p:sp>
      <p:pic>
        <p:nvPicPr>
          <p:cNvPr id="106502" name="Picture 6" descr="Kung-Fu_Master_-_1990_-_Irem"/>
          <p:cNvPicPr>
            <a:picLocks noChangeAspect="1" noChangeArrowheads="1"/>
          </p:cNvPicPr>
          <p:nvPr/>
        </p:nvPicPr>
        <p:blipFill>
          <a:blip r:embed="rId7" cstate="screen">
            <a:lum bright="-10000" contrast="20000"/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" y="2122488"/>
            <a:ext cx="4800600" cy="4321175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2000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0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065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065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065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065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065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065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065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2" name="Picture 4" descr="javelin orc"/>
          <p:cNvPicPr>
            <a:picLocks noChangeAspect="1" noChangeArrowheads="1"/>
          </p:cNvPicPr>
          <p:nvPr/>
        </p:nvPicPr>
        <p:blipFill>
          <a:blip r:embed="rId3">
            <a:lum brigh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27074"/>
            <a:ext cx="9145588" cy="61388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1813"/>
            <a:ext cx="8229600" cy="1146175"/>
          </a:xfrm>
        </p:spPr>
        <p:txBody>
          <a:bodyPr/>
          <a:lstStyle/>
          <a:p>
            <a:pPr eaLnBrk="1" hangingPunct="1"/>
            <a:r>
              <a:rPr lang="en-US" sz="5400"/>
              <a:t>Rule-Based Systems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534400" cy="4302125"/>
          </a:xfrm>
        </p:spPr>
        <p:txBody>
          <a:bodyPr/>
          <a:lstStyle/>
          <a:p>
            <a:pPr defTabSz="407988" eaLnBrk="1" hangingPunct="1">
              <a:lnSpc>
                <a:spcPct val="80000"/>
              </a:lnSpc>
            </a:pPr>
            <a:r>
              <a:rPr lang="en-US"/>
              <a:t>System consists of:</a:t>
            </a:r>
          </a:p>
          <a:p>
            <a:pPr lvl="1" defTabSz="407988" eaLnBrk="1" hangingPunct="1">
              <a:lnSpc>
                <a:spcPct val="80000"/>
              </a:lnSpc>
            </a:pPr>
            <a:r>
              <a:rPr lang="en-US" sz="2300" b="1"/>
              <a:t>A rule set</a:t>
            </a:r>
            <a:r>
              <a:rPr lang="en-US" sz="2300"/>
              <a:t> - the rules to evaluate</a:t>
            </a:r>
          </a:p>
          <a:p>
            <a:pPr lvl="1" defTabSz="407988" eaLnBrk="1" hangingPunct="1">
              <a:lnSpc>
                <a:spcPct val="80000"/>
              </a:lnSpc>
            </a:pPr>
            <a:r>
              <a:rPr lang="en-US" sz="2300" b="1"/>
              <a:t>A working memory</a:t>
            </a:r>
            <a:r>
              <a:rPr lang="en-US" sz="2300"/>
              <a:t> - stores state</a:t>
            </a:r>
          </a:p>
          <a:p>
            <a:pPr lvl="1" defTabSz="407988" eaLnBrk="1" hangingPunct="1">
              <a:lnSpc>
                <a:spcPct val="80000"/>
              </a:lnSpc>
            </a:pPr>
            <a:r>
              <a:rPr lang="en-US" sz="2300" b="1"/>
              <a:t>A matching scheme</a:t>
            </a:r>
            <a:r>
              <a:rPr lang="en-US" sz="2300"/>
              <a:t> - decides which rules are applicable</a:t>
            </a:r>
          </a:p>
          <a:p>
            <a:pPr lvl="1" defTabSz="407988" eaLnBrk="1" hangingPunct="1">
              <a:lnSpc>
                <a:spcPct val="80000"/>
              </a:lnSpc>
            </a:pPr>
            <a:r>
              <a:rPr lang="en-US" sz="2300" b="1"/>
              <a:t>A conflict resolution scheme</a:t>
            </a:r>
            <a:r>
              <a:rPr lang="en-US" sz="2300"/>
              <a:t> - if more than one rule is applicable, decides how to proceed</a:t>
            </a:r>
          </a:p>
          <a:p>
            <a:pPr defTabSz="407988" eaLnBrk="1" hangingPunct="1">
              <a:lnSpc>
                <a:spcPct val="80000"/>
              </a:lnSpc>
            </a:pPr>
            <a:endParaRPr lang="en-US" sz="2600"/>
          </a:p>
          <a:p>
            <a:pPr defTabSz="407988" eaLnBrk="1" hangingPunct="1">
              <a:lnSpc>
                <a:spcPct val="80000"/>
              </a:lnSpc>
            </a:pPr>
            <a:r>
              <a:rPr lang="en-US" sz="2600" b="1"/>
              <a:t>Rule:</a:t>
            </a:r>
          </a:p>
          <a:p>
            <a:pPr lvl="1" defTabSz="407988" eaLnBrk="1" hangingPunct="1">
              <a:lnSpc>
                <a:spcPct val="80000"/>
              </a:lnSpc>
            </a:pPr>
            <a:r>
              <a:rPr lang="en-US" sz="2300" b="1"/>
              <a:t>IF / THEN structure</a:t>
            </a:r>
            <a:r>
              <a:rPr lang="en-US" sz="2300"/>
              <a:t> that logically relates information in the IF part to other information in THEN part.</a:t>
            </a:r>
            <a:r>
              <a:rPr lang="en-US"/>
              <a:t> </a:t>
            </a:r>
          </a:p>
          <a:p>
            <a:pPr lvl="1" defTabSz="407988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300" b="1"/>
              <a:t>Eg: </a:t>
            </a:r>
            <a:r>
              <a:rPr lang="en-US" b="1">
                <a:solidFill>
                  <a:srgbClr val="003300"/>
                </a:solidFill>
              </a:rPr>
              <a:t>If </a:t>
            </a:r>
            <a:r>
              <a:rPr lang="en-US" sz="2400" b="1">
                <a:solidFill>
                  <a:srgbClr val="003300"/>
                </a:solidFill>
              </a:rPr>
              <a:t>distance &lt; 75</a:t>
            </a:r>
            <a:r>
              <a:rPr lang="en-US" b="1">
                <a:solidFill>
                  <a:srgbClr val="003300"/>
                </a:solidFill>
              </a:rPr>
              <a:t> And </a:t>
            </a:r>
            <a:r>
              <a:rPr lang="en-US" sz="2400" b="1">
                <a:solidFill>
                  <a:srgbClr val="003300"/>
                </a:solidFill>
              </a:rPr>
              <a:t>have Javelin</a:t>
            </a:r>
            <a:r>
              <a:rPr lang="en-US" b="1">
                <a:solidFill>
                  <a:srgbClr val="003300"/>
                </a:solidFill>
              </a:rPr>
              <a:t> Then </a:t>
            </a:r>
            <a:r>
              <a:rPr lang="en-US" sz="2400" b="1">
                <a:solidFill>
                  <a:srgbClr val="003300"/>
                </a:solidFill>
              </a:rPr>
              <a:t>throw Javelin</a:t>
            </a:r>
          </a:p>
          <a:p>
            <a:pPr lvl="1" defTabSz="407988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b="1">
                <a:solidFill>
                  <a:srgbClr val="003300"/>
                </a:solidFill>
              </a:rPr>
              <a:t>	 If </a:t>
            </a:r>
            <a:r>
              <a:rPr lang="en-US" sz="2400" b="1">
                <a:solidFill>
                  <a:srgbClr val="003300"/>
                </a:solidFill>
              </a:rPr>
              <a:t>distance &lt; 10</a:t>
            </a:r>
            <a:r>
              <a:rPr lang="en-US" b="1">
                <a:solidFill>
                  <a:srgbClr val="003300"/>
                </a:solidFill>
              </a:rPr>
              <a:t> Then </a:t>
            </a:r>
            <a:r>
              <a:rPr lang="en-US" sz="2400" b="1">
                <a:solidFill>
                  <a:srgbClr val="003300"/>
                </a:solidFill>
              </a:rPr>
              <a:t>engage combat (using Gobang)</a:t>
            </a:r>
          </a:p>
          <a:p>
            <a:pPr defTabSz="407988" eaLnBrk="1" hangingPunct="1">
              <a:lnSpc>
                <a:spcPct val="80000"/>
              </a:lnSpc>
            </a:pPr>
            <a:endParaRPr lang="en-US" sz="2400" b="1">
              <a:solidFill>
                <a:srgbClr val="003300"/>
              </a:solidFill>
            </a:endParaRPr>
          </a:p>
        </p:txBody>
      </p:sp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25FD7C-3CEA-4560-80EB-5AB80A722CAA}" type="slidenum">
              <a:rPr lang="en-US" smtClean="0">
                <a:latin typeface="Arial" panose="020B0604020202020204" pitchFamily="34" charset="0"/>
              </a:rPr>
              <a:pPr/>
              <a:t>9</a:t>
            </a:fld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311150" y="871538"/>
            <a:ext cx="8680450" cy="804862"/>
          </a:xfrm>
        </p:spPr>
        <p:txBody>
          <a:bodyPr/>
          <a:lstStyle/>
          <a:p>
            <a:pPr eaLnBrk="1" hangingPunct="1"/>
            <a:r>
              <a:rPr lang="en-US"/>
              <a:t>Rule-Based Systems Structure</a:t>
            </a:r>
          </a:p>
        </p:txBody>
      </p:sp>
      <p:sp>
        <p:nvSpPr>
          <p:cNvPr id="665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6D5DDF2-1692-4619-97E3-F7B13AF1FF25}" type="slidenum">
              <a:rPr lang="en-US" smtClean="0">
                <a:latin typeface="Arial" panose="020B0604020202020204" pitchFamily="34" charset="0"/>
              </a:rPr>
              <a:pPr/>
              <a:t>10</a:t>
            </a:fld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124200" y="1905000"/>
            <a:ext cx="4114800" cy="3810000"/>
            <a:chOff x="1968" y="1344"/>
            <a:chExt cx="2592" cy="2400"/>
          </a:xfrm>
        </p:grpSpPr>
        <p:sp>
          <p:nvSpPr>
            <p:cNvPr id="66576" name="Rectangle 4"/>
            <p:cNvSpPr>
              <a:spLocks noChangeArrowheads="1"/>
            </p:cNvSpPr>
            <p:nvPr/>
          </p:nvSpPr>
          <p:spPr bwMode="auto">
            <a:xfrm>
              <a:off x="1968" y="1344"/>
              <a:ext cx="2592" cy="1536"/>
            </a:xfrm>
            <a:prstGeom prst="rect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  <p:sp>
          <p:nvSpPr>
            <p:cNvPr id="66577" name="Text Box 5"/>
            <p:cNvSpPr txBox="1">
              <a:spLocks noChangeArrowheads="1"/>
            </p:cNvSpPr>
            <p:nvPr/>
          </p:nvSpPr>
          <p:spPr bwMode="auto">
            <a:xfrm>
              <a:off x="2208" y="1488"/>
              <a:ext cx="21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400" b="1"/>
                <a:t>Rule Memory</a:t>
              </a:r>
            </a:p>
          </p:txBody>
        </p:sp>
        <p:sp>
          <p:nvSpPr>
            <p:cNvPr id="66578" name="Line 6"/>
            <p:cNvSpPr>
              <a:spLocks noChangeShapeType="1"/>
            </p:cNvSpPr>
            <p:nvPr/>
          </p:nvSpPr>
          <p:spPr bwMode="auto">
            <a:xfrm>
              <a:off x="2880" y="1920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9" name="Line 7"/>
            <p:cNvSpPr>
              <a:spLocks noChangeShapeType="1"/>
            </p:cNvSpPr>
            <p:nvPr/>
          </p:nvSpPr>
          <p:spPr bwMode="auto">
            <a:xfrm>
              <a:off x="2880" y="2112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0" name="Line 8"/>
            <p:cNvSpPr>
              <a:spLocks noChangeShapeType="1"/>
            </p:cNvSpPr>
            <p:nvPr/>
          </p:nvSpPr>
          <p:spPr bwMode="auto">
            <a:xfrm>
              <a:off x="2880" y="2304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1" name="Line 9"/>
            <p:cNvSpPr>
              <a:spLocks noChangeShapeType="1"/>
            </p:cNvSpPr>
            <p:nvPr/>
          </p:nvSpPr>
          <p:spPr bwMode="auto">
            <a:xfrm>
              <a:off x="2880" y="2496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2" name="Line 10"/>
            <p:cNvSpPr>
              <a:spLocks noChangeShapeType="1"/>
            </p:cNvSpPr>
            <p:nvPr/>
          </p:nvSpPr>
          <p:spPr bwMode="auto">
            <a:xfrm>
              <a:off x="2880" y="2688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3" name="Rectangle 11"/>
            <p:cNvSpPr>
              <a:spLocks noChangeArrowheads="1"/>
            </p:cNvSpPr>
            <p:nvPr/>
          </p:nvSpPr>
          <p:spPr bwMode="auto">
            <a:xfrm>
              <a:off x="1968" y="3024"/>
              <a:ext cx="2592" cy="720"/>
            </a:xfrm>
            <a:prstGeom prst="rect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75788" name="Text Box 12"/>
          <p:cNvSpPr txBox="1">
            <a:spLocks noChangeArrowheads="1"/>
          </p:cNvSpPr>
          <p:nvPr/>
        </p:nvSpPr>
        <p:spPr bwMode="auto">
          <a:xfrm>
            <a:off x="2895600" y="4876800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b="1"/>
              <a:t>Working Memory</a:t>
            </a:r>
          </a:p>
        </p:txBody>
      </p:sp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7391400" y="1981200"/>
            <a:ext cx="1524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 marL="173038" indent="-1730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1600"/>
              <a:t>Program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/>
              <a:t>Procedural Knowledge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/>
              <a:t>Long-term Knowledge</a:t>
            </a:r>
          </a:p>
        </p:txBody>
      </p:sp>
      <p:sp>
        <p:nvSpPr>
          <p:cNvPr id="75790" name="Text Box 14"/>
          <p:cNvSpPr txBox="1">
            <a:spLocks noChangeArrowheads="1"/>
          </p:cNvSpPr>
          <p:nvPr/>
        </p:nvSpPr>
        <p:spPr bwMode="auto">
          <a:xfrm>
            <a:off x="7391400" y="4572000"/>
            <a:ext cx="16764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 marL="173038" indent="-1730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1600"/>
              <a:t>Data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/>
              <a:t>Declarative Knowledge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/>
              <a:t>Short-term Knowledge</a:t>
            </a:r>
          </a:p>
        </p:txBody>
      </p:sp>
      <p:sp>
        <p:nvSpPr>
          <p:cNvPr id="75791" name="Rectangle 15"/>
          <p:cNvSpPr>
            <a:spLocks noChangeArrowheads="1"/>
          </p:cNvSpPr>
          <p:nvPr/>
        </p:nvSpPr>
        <p:spPr bwMode="auto">
          <a:xfrm>
            <a:off x="1066800" y="2743200"/>
            <a:ext cx="1066800" cy="838200"/>
          </a:xfrm>
          <a:prstGeom prst="rect">
            <a:avLst/>
          </a:prstGeom>
          <a:noFill/>
          <a:ln w="38100">
            <a:solidFill>
              <a:srgbClr val="99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600"/>
              <a:t>Match</a:t>
            </a:r>
          </a:p>
        </p:txBody>
      </p:sp>
      <p:sp>
        <p:nvSpPr>
          <p:cNvPr id="75792" name="Rectangle 16"/>
          <p:cNvSpPr>
            <a:spLocks noChangeArrowheads="1"/>
          </p:cNvSpPr>
          <p:nvPr/>
        </p:nvSpPr>
        <p:spPr bwMode="auto">
          <a:xfrm>
            <a:off x="1905000" y="4343400"/>
            <a:ext cx="1066800" cy="838200"/>
          </a:xfrm>
          <a:prstGeom prst="rect">
            <a:avLst/>
          </a:prstGeom>
          <a:noFill/>
          <a:ln w="38100">
            <a:solidFill>
              <a:srgbClr val="99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600"/>
              <a:t>Conflict</a:t>
            </a:r>
          </a:p>
          <a:p>
            <a:pPr algn="ctr"/>
            <a:r>
              <a:rPr lang="en-US" sz="1600"/>
              <a:t>Resolution</a:t>
            </a:r>
          </a:p>
        </p:txBody>
      </p:sp>
      <p:sp>
        <p:nvSpPr>
          <p:cNvPr id="75793" name="Rectangle 17"/>
          <p:cNvSpPr>
            <a:spLocks noChangeArrowheads="1"/>
          </p:cNvSpPr>
          <p:nvPr/>
        </p:nvSpPr>
        <p:spPr bwMode="auto">
          <a:xfrm>
            <a:off x="228600" y="4343400"/>
            <a:ext cx="1066800" cy="838200"/>
          </a:xfrm>
          <a:prstGeom prst="rect">
            <a:avLst/>
          </a:prstGeom>
          <a:noFill/>
          <a:ln w="38100">
            <a:solidFill>
              <a:srgbClr val="99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600"/>
              <a:t>Act</a:t>
            </a:r>
          </a:p>
        </p:txBody>
      </p:sp>
      <p:sp>
        <p:nvSpPr>
          <p:cNvPr id="75794" name="Line 18"/>
          <p:cNvSpPr>
            <a:spLocks noChangeShapeType="1"/>
          </p:cNvSpPr>
          <p:nvPr/>
        </p:nvSpPr>
        <p:spPr bwMode="auto">
          <a:xfrm>
            <a:off x="1905000" y="3581400"/>
            <a:ext cx="5334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5" name="Line 19"/>
          <p:cNvSpPr>
            <a:spLocks noChangeShapeType="1"/>
          </p:cNvSpPr>
          <p:nvPr/>
        </p:nvSpPr>
        <p:spPr bwMode="auto">
          <a:xfrm flipH="1">
            <a:off x="1295400" y="47244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6" name="Line 20"/>
          <p:cNvSpPr>
            <a:spLocks noChangeShapeType="1"/>
          </p:cNvSpPr>
          <p:nvPr/>
        </p:nvSpPr>
        <p:spPr bwMode="auto">
          <a:xfrm flipV="1">
            <a:off x="762000" y="3581400"/>
            <a:ext cx="762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7" name="Rectangle 21"/>
          <p:cNvSpPr>
            <a:spLocks noChangeArrowheads="1"/>
          </p:cNvSpPr>
          <p:nvPr/>
        </p:nvSpPr>
        <p:spPr bwMode="auto">
          <a:xfrm>
            <a:off x="152400" y="2590800"/>
            <a:ext cx="2895600" cy="27432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75798" name="Text Box 22"/>
          <p:cNvSpPr txBox="1">
            <a:spLocks noChangeArrowheads="1"/>
          </p:cNvSpPr>
          <p:nvPr/>
        </p:nvSpPr>
        <p:spPr bwMode="auto">
          <a:xfrm>
            <a:off x="685800" y="5424488"/>
            <a:ext cx="1752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/>
              <a:t>Inference Engine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531813"/>
            <a:ext cx="8229600" cy="1146175"/>
          </a:xfrm>
        </p:spPr>
        <p:txBody>
          <a:bodyPr/>
          <a:lstStyle/>
          <a:p>
            <a:pPr eaLnBrk="1" hangingPunct="1"/>
            <a:r>
              <a:rPr lang="en-US"/>
              <a:t>AI Cycle</a:t>
            </a:r>
          </a:p>
        </p:txBody>
      </p:sp>
      <p:sp>
        <p:nvSpPr>
          <p:cNvPr id="6861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A49B4D-90C2-423C-AA6C-11E3329471A2}" type="slidenum">
              <a:rPr lang="en-US" smtClean="0">
                <a:latin typeface="Arial" panose="020B0604020202020204" pitchFamily="34" charset="0"/>
              </a:rPr>
              <a:pPr/>
              <a:t>11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77865" name="Picture 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200" y="2057400"/>
            <a:ext cx="8305800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66" name="Line 42"/>
          <p:cNvSpPr>
            <a:spLocks noChangeShapeType="1"/>
          </p:cNvSpPr>
          <p:nvPr/>
        </p:nvSpPr>
        <p:spPr bwMode="auto">
          <a:xfrm flipH="1">
            <a:off x="5302250" y="5072063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Medieval RTS game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Aim:</a:t>
            </a:r>
            <a:r>
              <a:rPr lang="en-US" dirty="0"/>
              <a:t> Enable the computer opponent to keep track of player’s current state of technology</a:t>
            </a:r>
          </a:p>
          <a:p>
            <a:pPr lvl="1"/>
            <a:r>
              <a:rPr lang="en-US" dirty="0"/>
              <a:t>By collection of knowledge of the player from the world state (resources, units, facilities)</a:t>
            </a:r>
          </a:p>
          <a:p>
            <a:pPr lvl="1"/>
            <a:r>
              <a:rPr lang="en-US" dirty="0"/>
              <a:t>“Cheating” and having perfect knowledge will not give fair and realistic AI behaviors</a:t>
            </a:r>
          </a:p>
          <a:p>
            <a:r>
              <a:rPr lang="en-US" dirty="0"/>
              <a:t>How to assess state of technology?</a:t>
            </a:r>
          </a:p>
          <a:p>
            <a:pPr lvl="1"/>
            <a:r>
              <a:rPr lang="en-US" dirty="0"/>
              <a:t>Sending scouts to collect information and observe (just like what human players do)</a:t>
            </a:r>
          </a:p>
          <a:p>
            <a:pPr lvl="1"/>
            <a:r>
              <a:rPr lang="en-US" dirty="0"/>
              <a:t>Make </a:t>
            </a:r>
            <a:r>
              <a:rPr lang="en-US" b="1" dirty="0"/>
              <a:t>inferences </a:t>
            </a:r>
            <a:r>
              <a:rPr lang="en-US" dirty="0"/>
              <a:t>via a rule-based system</a:t>
            </a:r>
            <a:endParaRPr lang="en-MY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286000"/>
            <a:ext cx="4371975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Medieval RTS game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4419600" cy="4325112"/>
          </a:xfrm>
        </p:spPr>
        <p:txBody>
          <a:bodyPr/>
          <a:lstStyle/>
          <a:p>
            <a:r>
              <a:rPr lang="en-US" b="1" dirty="0"/>
              <a:t>Technology Tree</a:t>
            </a:r>
          </a:p>
          <a:p>
            <a:pPr lvl="1"/>
            <a:r>
              <a:rPr lang="en-US" dirty="0"/>
              <a:t>An important element in RTS games</a:t>
            </a:r>
          </a:p>
          <a:p>
            <a:pPr lvl="1"/>
            <a:r>
              <a:rPr lang="en-US" dirty="0"/>
              <a:t>Shows the links between units to train, facilities to build and resources to harvest in order to expand influence in game</a:t>
            </a:r>
            <a:endParaRPr lang="en-MY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229600" cy="612775"/>
          </a:xfrm>
        </p:spPr>
        <p:txBody>
          <a:bodyPr/>
          <a:lstStyle/>
          <a:p>
            <a:pPr eaLnBrk="1" hangingPunct="1"/>
            <a:r>
              <a:rPr lang="en-US" sz="3200"/>
              <a:t>Example: </a:t>
            </a:r>
            <a:r>
              <a:rPr lang="en-US" sz="3200">
                <a:solidFill>
                  <a:schemeClr val="tx1"/>
                </a:solidFill>
              </a:rPr>
              <a:t>Tracking Enemy (player) technology</a:t>
            </a:r>
          </a:p>
        </p:txBody>
      </p:sp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8B1300E-76A1-4C46-B208-C64CDAAF6278}" type="slidenum">
              <a:rPr lang="en-US" smtClean="0">
                <a:latin typeface="Arial" panose="020B0604020202020204" pitchFamily="34" charset="0"/>
              </a:rPr>
              <a:pPr/>
              <a:t>14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74755" name="Picture 9" descr="age_of_empires_3_last_stand_of_the_boneguard"/>
          <p:cNvPicPr>
            <a:picLocks noChangeAspect="1" noChangeArrowheads="1"/>
          </p:cNvPicPr>
          <p:nvPr/>
        </p:nvPicPr>
        <p:blipFill>
          <a:blip r:embed="rId3">
            <a:lum bright="60000" contrast="-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1751013"/>
            <a:ext cx="8534400" cy="50244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5029200" y="2209800"/>
            <a:ext cx="3962400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30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30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30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30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R10: 	if	(Archer == Yes &amp;&amp; Crossbowman == 	Unknown) Crossbowman = Maybe;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R11: 	if	(Archer == Maybe &amp;&amp; Longbowman == 	Unknown) Longbowman = Maybe;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R12: 	if	(Longbowman == Yes)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	Archer = Yes;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	Fletcher = Yes;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	FootSoldier = Yes;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	Barracks = Yes;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	Woodcutter = Yes;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		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R13: 	if	(Cavalry == Yes){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	Blacksmith = Yes;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	FootSoldier = Yes;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	Barracks = Yes;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	Woodcutter = Yes;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}</a:t>
            </a:r>
          </a:p>
          <a:p>
            <a:pPr eaLnBrk="1" hangingPunct="1">
              <a:lnSpc>
                <a:spcPct val="50000"/>
              </a:lnSpc>
              <a:spcBef>
                <a:spcPct val="4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R14: 	if	(StoneWalls == Yes) 				Stonemason = Yes;</a:t>
            </a:r>
            <a:r>
              <a:rPr lang="en-US" sz="3200" b="1"/>
              <a:t> </a:t>
            </a:r>
            <a:endParaRPr lang="en-US" sz="1400" b="1"/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en-US" sz="1400" b="1"/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381000" y="1766888"/>
            <a:ext cx="806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b="1"/>
              <a:t>Rules:</a:t>
            </a:r>
          </a:p>
        </p:txBody>
      </p:sp>
      <p:sp>
        <p:nvSpPr>
          <p:cNvPr id="86024" name="Rectangle 8"/>
          <p:cNvSpPr>
            <a:spLocks noChangeArrowheads="1"/>
          </p:cNvSpPr>
          <p:nvPr/>
        </p:nvSpPr>
        <p:spPr bwMode="auto">
          <a:xfrm>
            <a:off x="381000" y="2133600"/>
            <a:ext cx="4572000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30238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30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30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30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302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R1: if	(Peasants == Yes &amp;&amp; Woodcutter == Unknown)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Woodcutter = Maybe;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R2: if	(Peasants == Yes &amp;&amp; Stonemason == Unknown)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Stonemason = Maybe;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R3: if	(Woodcutter == Yes &amp;&amp; Barracks == Unknown)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Barracks = Maybe;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R4: if	(Woodcutter == Yes &amp;&amp; Stonemason == Yes &amp;&amp; Temple == Unknown) Temple = Maybe;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R5: if	(Barracks == Yes &amp;&amp; Blacksmith == Unknown)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Blacksmith = Maybe;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R6: if	(Fletcher == Yes &amp;&amp; FootSoldier == Yes &amp;&amp;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	Archer == Unknown) Archer = Maybe;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R7: if	(Woodcutter == Yes &amp;&amp; WoodWalls == Unknown)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		WoodWalls = Maybe;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R8: if	(Stonemason == Yes &amp;&amp; StoneWalls == Unknown)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   	StoneWalls = Maybe;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R9: if	(Archer == Yes &amp;&amp; Crossbowman == Unknown)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r>
              <a:rPr lang="en-US" sz="1400" b="1"/>
              <a:t>           	Crossbowman = Maybe;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8"/>
          <p:cNvSpPr>
            <a:spLocks noChangeArrowheads="1"/>
          </p:cNvSpPr>
          <p:nvPr/>
        </p:nvSpPr>
        <p:spPr bwMode="auto">
          <a:xfrm>
            <a:off x="533400" y="2133600"/>
            <a:ext cx="4724400" cy="449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1813"/>
            <a:ext cx="8229600" cy="1146175"/>
          </a:xfrm>
        </p:spPr>
        <p:txBody>
          <a:bodyPr/>
          <a:lstStyle/>
          <a:p>
            <a:pPr eaLnBrk="1" hangingPunct="1"/>
            <a:r>
              <a:rPr lang="en-US" sz="3200"/>
              <a:t>Example: </a:t>
            </a:r>
            <a:r>
              <a:rPr lang="en-US" sz="3200">
                <a:solidFill>
                  <a:schemeClr val="tx1"/>
                </a:solidFill>
              </a:rPr>
              <a:t>Tracking Enemy (player) technology</a:t>
            </a:r>
          </a:p>
        </p:txBody>
      </p:sp>
      <p:sp>
        <p:nvSpPr>
          <p:cNvPr id="76805" name="Rectangle 6"/>
          <p:cNvSpPr>
            <a:spLocks noGrp="1" noChangeArrowheads="1"/>
          </p:cNvSpPr>
          <p:nvPr>
            <p:ph idx="1"/>
          </p:nvPr>
        </p:nvSpPr>
        <p:spPr>
          <a:xfrm>
            <a:off x="533400" y="2174875"/>
            <a:ext cx="4800600" cy="4302125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enum TMemoryValue{Yes, No, Maybe, Unknown};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Peasants;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Woodcutter;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Stonemason;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Blacksmith;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Barracks;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Fletcher;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WoodWalls;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StoneWalls;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Cavalry;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FootSoldier;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Spearman;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Archer;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Temple;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Priest;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Crossbowman;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700" b="1" i="1"/>
              <a:t>TMemoryValue Longbowman;</a:t>
            </a:r>
            <a:r>
              <a:rPr lang="en-US" sz="1700" b="1"/>
              <a:t> </a:t>
            </a:r>
          </a:p>
        </p:txBody>
      </p:sp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598DD6-2C10-4E56-811D-5A49B99286EC}" type="slidenum">
              <a:rPr lang="en-US" smtClean="0">
                <a:latin typeface="Arial" panose="020B0604020202020204" pitchFamily="34" charset="0"/>
              </a:rPr>
              <a:pPr/>
              <a:t>15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6806" name="Text Box 7"/>
          <p:cNvSpPr txBox="1">
            <a:spLocks noChangeArrowheads="1"/>
          </p:cNvSpPr>
          <p:nvPr/>
        </p:nvSpPr>
        <p:spPr bwMode="auto">
          <a:xfrm>
            <a:off x="441325" y="1714500"/>
            <a:ext cx="4549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b="1"/>
              <a:t>Working Memory: Default value = unknown</a:t>
            </a:r>
          </a:p>
        </p:txBody>
      </p:sp>
      <p:sp>
        <p:nvSpPr>
          <p:cNvPr id="76807" name="Text Box 9"/>
          <p:cNvSpPr txBox="1">
            <a:spLocks noChangeArrowheads="1"/>
          </p:cNvSpPr>
          <p:nvPr/>
        </p:nvSpPr>
        <p:spPr bwMode="auto">
          <a:xfrm>
            <a:off x="5638800" y="1828800"/>
            <a:ext cx="350520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b="1"/>
              <a:t>Assume:</a:t>
            </a:r>
          </a:p>
          <a:p>
            <a:r>
              <a:rPr lang="en-US"/>
              <a:t>Fact from the scout:</a:t>
            </a:r>
          </a:p>
          <a:p>
            <a:r>
              <a:rPr lang="en-US"/>
              <a:t>Peasant = yes</a:t>
            </a:r>
          </a:p>
          <a:p>
            <a:endParaRPr lang="en-US"/>
          </a:p>
          <a:p>
            <a:r>
              <a:rPr lang="en-US"/>
              <a:t>Inference Engine???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in Rule-based Systems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Forward Chaining</a:t>
            </a:r>
          </a:p>
          <a:p>
            <a:pPr lvl="1"/>
            <a:r>
              <a:rPr lang="en-US" dirty="0"/>
              <a:t>Match rules (if-parts) to facts in working memory</a:t>
            </a:r>
          </a:p>
          <a:p>
            <a:pPr lvl="1"/>
            <a:r>
              <a:rPr lang="en-US" dirty="0"/>
              <a:t>If a rule matches, it is fired and its then-part is executed</a:t>
            </a:r>
          </a:p>
          <a:p>
            <a:pPr lvl="1"/>
            <a:r>
              <a:rPr lang="en-US" dirty="0"/>
              <a:t>Potentially, if more than one rule matches the given set of facts, a </a:t>
            </a:r>
            <a:r>
              <a:rPr lang="en-US" i="1" dirty="0"/>
              <a:t>conflict resolution</a:t>
            </a:r>
            <a:r>
              <a:rPr lang="en-US" dirty="0"/>
              <a:t> </a:t>
            </a:r>
            <a:r>
              <a:rPr lang="en-US" i="1" dirty="0"/>
              <a:t>phase is </a:t>
            </a:r>
            <a:r>
              <a:rPr lang="en-US" dirty="0"/>
              <a:t>required to figure out which rule to fire</a:t>
            </a:r>
          </a:p>
          <a:p>
            <a:pPr lvl="1"/>
            <a:r>
              <a:rPr lang="en-US" b="1" dirty="0"/>
              <a:t>Conflict resolution: </a:t>
            </a:r>
            <a:r>
              <a:rPr lang="en-US" dirty="0"/>
              <a:t>Many possible ways – (1) first matched rule, (2) random rule, (3) largest weighted rule</a:t>
            </a:r>
            <a:endParaRPr lang="en-MY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in Rule-based Systems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/>
              <a:t>If working memory indicates Peasants = Yes and Woodcutter = Unknown, the rule: </a:t>
            </a:r>
          </a:p>
          <a:p>
            <a:pPr lvl="3">
              <a:buNone/>
            </a:pPr>
            <a:endParaRPr lang="en-MY" dirty="0">
              <a:latin typeface="Consolas" pitchFamily="49" charset="0"/>
              <a:cs typeface="Consolas" pitchFamily="49" charset="0"/>
            </a:endParaRPr>
          </a:p>
          <a:p>
            <a:pPr lvl="3">
              <a:buNone/>
            </a:pPr>
            <a:r>
              <a:rPr lang="en-MY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if(Peasants == Yes &amp;&amp; Woodcutter == Unknown) Woodcutter = Maybe; </a:t>
            </a:r>
          </a:p>
          <a:p>
            <a:pPr lvl="3">
              <a:buNone/>
            </a:pPr>
            <a:endParaRPr lang="en-US" dirty="0"/>
          </a:p>
          <a:p>
            <a:pPr lvl="3">
              <a:buNone/>
            </a:pPr>
            <a:r>
              <a:rPr lang="en-US" sz="2400" dirty="0"/>
              <a:t>, matches. So, this rule can potentially be fired</a:t>
            </a:r>
          </a:p>
          <a:p>
            <a:pPr lvl="3">
              <a:buNone/>
            </a:pPr>
            <a:r>
              <a:rPr lang="en-US" sz="2400" dirty="0"/>
              <a:t>(depending on which other rules are also matched)</a:t>
            </a:r>
            <a:endParaRPr lang="en-MY" sz="24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System Basics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382000" cy="4325112"/>
          </a:xfrm>
        </p:spPr>
        <p:txBody>
          <a:bodyPr/>
          <a:lstStyle/>
          <a:p>
            <a:r>
              <a:rPr lang="en-US" sz="2400" dirty="0"/>
              <a:t> The AI can gather facts by sending out scouts to see more about the player.</a:t>
            </a:r>
          </a:p>
          <a:p>
            <a:pPr lvl="1"/>
            <a:r>
              <a:rPr lang="en-US" sz="2000" dirty="0"/>
              <a:t>In another way, we can use a set of if-then style rules to infer the technology that the player has (before a scout confirms it)</a:t>
            </a:r>
          </a:p>
          <a:p>
            <a:endParaRPr lang="en-US" sz="2400" dirty="0"/>
          </a:p>
          <a:p>
            <a:r>
              <a:rPr lang="en-US" sz="2400" dirty="0"/>
              <a:t>Example, next, scout found Woodcutter and Stonemason:</a:t>
            </a:r>
          </a:p>
          <a:p>
            <a:pPr lvl="1">
              <a:buNone/>
            </a:pPr>
            <a:r>
              <a:rPr lang="en-MY" sz="2400" dirty="0">
                <a:latin typeface="Consolas" pitchFamily="49" charset="0"/>
                <a:cs typeface="Consolas" pitchFamily="49" charset="0"/>
              </a:rPr>
              <a:t>if(Woodcutter == Yes &amp;&amp; Stonemason == Yes &amp;&amp; Temple == Unknown) </a:t>
            </a:r>
          </a:p>
          <a:p>
            <a:pPr lvl="2">
              <a:buNone/>
            </a:pPr>
            <a:r>
              <a:rPr lang="en-MY" sz="2200" dirty="0">
                <a:latin typeface="Consolas" pitchFamily="49" charset="0"/>
                <a:cs typeface="Consolas" pitchFamily="49" charset="0"/>
              </a:rPr>
              <a:t>	Temple = Maybe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System Basics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686800" cy="4325112"/>
          </a:xfrm>
        </p:spPr>
        <p:txBody>
          <a:bodyPr/>
          <a:lstStyle/>
          <a:p>
            <a:r>
              <a:rPr lang="en-US" sz="2400" dirty="0"/>
              <a:t>Inference can work the other way as well</a:t>
            </a:r>
          </a:p>
          <a:p>
            <a:pPr lvl="1"/>
            <a:r>
              <a:rPr lang="en-US" sz="2200" dirty="0"/>
              <a:t>If the player has been observed to have a priest, it can be inferred that the player also must have a temple, therefore, must have a barracks, a woodcutter, and a stonemason</a:t>
            </a:r>
          </a:p>
          <a:p>
            <a:r>
              <a:rPr lang="en-US" sz="2400" dirty="0"/>
              <a:t>Example “priest” rule:</a:t>
            </a:r>
            <a:r>
              <a:rPr lang="en-MY" sz="2400" dirty="0"/>
              <a:t> </a:t>
            </a:r>
            <a:endParaRPr lang="en-MY" sz="2400" dirty="0">
              <a:latin typeface="Consolas" pitchFamily="49" charset="0"/>
              <a:cs typeface="Consolas" pitchFamily="49" charset="0"/>
            </a:endParaRPr>
          </a:p>
          <a:p>
            <a:pPr lvl="1">
              <a:buNone/>
            </a:pPr>
            <a:r>
              <a:rPr lang="en-MY" sz="2000" dirty="0">
                <a:latin typeface="Consolas" pitchFamily="49" charset="0"/>
                <a:cs typeface="Consolas" pitchFamily="49" charset="0"/>
              </a:rPr>
              <a:t>if(Priest == Yes) { </a:t>
            </a:r>
          </a:p>
          <a:p>
            <a:pPr lvl="1">
              <a:buNone/>
            </a:pPr>
            <a:r>
              <a:rPr lang="en-MY" sz="2000" dirty="0">
                <a:latin typeface="Consolas" pitchFamily="49" charset="0"/>
                <a:cs typeface="Consolas" pitchFamily="49" charset="0"/>
              </a:rPr>
              <a:t>	Temple = Yes; </a:t>
            </a:r>
          </a:p>
          <a:p>
            <a:pPr lvl="1">
              <a:buNone/>
            </a:pPr>
            <a:r>
              <a:rPr lang="en-MY" sz="2000" dirty="0">
                <a:latin typeface="Consolas" pitchFamily="49" charset="0"/>
                <a:cs typeface="Consolas" pitchFamily="49" charset="0"/>
              </a:rPr>
              <a:t>	Barracks = Yes; </a:t>
            </a:r>
          </a:p>
          <a:p>
            <a:pPr lvl="1">
              <a:buNone/>
            </a:pPr>
            <a:r>
              <a:rPr lang="en-MY" sz="2000" dirty="0">
                <a:latin typeface="Consolas" pitchFamily="49" charset="0"/>
                <a:cs typeface="Consolas" pitchFamily="49" charset="0"/>
              </a:rPr>
              <a:t>	Woodcutter= Yes; </a:t>
            </a:r>
          </a:p>
          <a:p>
            <a:pPr lvl="1">
              <a:buNone/>
            </a:pPr>
            <a:r>
              <a:rPr lang="en-MY" sz="2000" dirty="0">
                <a:latin typeface="Consolas" pitchFamily="49" charset="0"/>
                <a:cs typeface="Consolas" pitchFamily="49" charset="0"/>
              </a:rPr>
              <a:t>	Stonemason= Yes; </a:t>
            </a:r>
          </a:p>
          <a:p>
            <a:pPr lvl="1">
              <a:buNone/>
            </a:pPr>
            <a:r>
              <a:rPr lang="en-MY" sz="2000" dirty="0">
                <a:latin typeface="Consolas" pitchFamily="49" charset="0"/>
                <a:cs typeface="Consolas" pitchFamily="49" charset="0"/>
              </a:rPr>
              <a:t>} 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Rule-based System Basics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458200" cy="4325112"/>
          </a:xfrm>
        </p:spPr>
        <p:txBody>
          <a:bodyPr/>
          <a:lstStyle/>
          <a:p>
            <a:r>
              <a:rPr lang="en-US" sz="2800" dirty="0"/>
              <a:t>In reality, developers </a:t>
            </a:r>
            <a:r>
              <a:rPr lang="en-US" sz="2800" b="1" dirty="0"/>
              <a:t>not</a:t>
            </a:r>
            <a:r>
              <a:rPr lang="en-US" sz="2800" dirty="0"/>
              <a:t> build rule-based systems using actual hard-coded if-statements</a:t>
            </a:r>
          </a:p>
          <a:p>
            <a:pPr lvl="1"/>
            <a:r>
              <a:rPr lang="en-US" sz="2000" dirty="0"/>
              <a:t>Some types of inferences are hard to achieve</a:t>
            </a:r>
          </a:p>
          <a:p>
            <a:pPr lvl="1"/>
            <a:r>
              <a:rPr lang="en-US" sz="2000" dirty="0"/>
              <a:t>Very inflexible as the rules need to be handcrafted one by one to strike a good balance among them</a:t>
            </a:r>
          </a:p>
          <a:p>
            <a:pPr lvl="1"/>
            <a:r>
              <a:rPr lang="en-US" sz="2000" dirty="0"/>
              <a:t>Definitely not efficient for future modifications!</a:t>
            </a:r>
          </a:p>
          <a:p>
            <a:r>
              <a:rPr lang="en-US" sz="2800" dirty="0"/>
              <a:t>Developers often use </a:t>
            </a:r>
            <a:r>
              <a:rPr lang="en-US" sz="2800" b="1" dirty="0"/>
              <a:t>scripting languages (LUA) </a:t>
            </a:r>
            <a:r>
              <a:rPr lang="en-US" sz="2800" dirty="0"/>
              <a:t>or </a:t>
            </a:r>
            <a:r>
              <a:rPr lang="en-US" sz="2800" b="1" dirty="0"/>
              <a:t>shells</a:t>
            </a:r>
            <a:r>
              <a:rPr lang="en-US" sz="2800" dirty="0"/>
              <a:t> to create and modify rules without having to change the source code and recompile.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Optimization of RBS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85" y="1995077"/>
            <a:ext cx="8229600" cy="43021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small rule sets,</a:t>
            </a:r>
          </a:p>
          <a:p>
            <a:pPr lvl="1"/>
            <a:r>
              <a:rPr lang="en-US" b="1" dirty="0"/>
              <a:t>Forward chaining </a:t>
            </a:r>
            <a:r>
              <a:rPr lang="en-US" dirty="0"/>
              <a:t>is fast</a:t>
            </a:r>
          </a:p>
          <a:p>
            <a:r>
              <a:rPr lang="en-US" dirty="0"/>
              <a:t>For large-scale rule-based systems, </a:t>
            </a:r>
            <a:r>
              <a:rPr lang="en-US" dirty="0" err="1"/>
              <a:t>optimisation</a:t>
            </a:r>
            <a:r>
              <a:rPr lang="en-US" dirty="0"/>
              <a:t> is essential</a:t>
            </a:r>
          </a:p>
          <a:p>
            <a:pPr lvl="1"/>
            <a:r>
              <a:rPr lang="en-US" dirty="0"/>
              <a:t>Many rules may be matched for firing, so the conflict resolution phase must be optimized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b="1" dirty="0">
                <a:sym typeface="Wingdings" pitchFamily="2" charset="2"/>
              </a:rPr>
              <a:t>Rete Algorithm</a:t>
            </a:r>
          </a:p>
          <a:p>
            <a:r>
              <a:rPr lang="en-US" dirty="0">
                <a:sym typeface="Wingdings" pitchFamily="2" charset="2"/>
              </a:rPr>
              <a:t>Write your own scripting language (instead of 3rd party ones) to reduce implementation overhead</a:t>
            </a:r>
            <a:endParaRPr lang="en-US" dirty="0"/>
          </a:p>
          <a:p>
            <a:pPr lvl="1"/>
            <a:endParaRPr lang="en-US" dirty="0"/>
          </a:p>
          <a:p>
            <a:endParaRPr lang="en-MY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E8FED38A-0C45-AF6F-01B5-856E4BD6B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5400" b="1" dirty="0"/>
              <a:t>Influence Maps</a:t>
            </a:r>
            <a:r>
              <a:rPr lang="en-AU" altLang="en-US" sz="5400" b="1" baseline="30000" dirty="0"/>
              <a:t>1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D238A7A5-C93D-AB56-52F7-F2E50C3843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844675"/>
            <a:ext cx="8229599" cy="2879725"/>
          </a:xfrm>
        </p:spPr>
        <p:txBody>
          <a:bodyPr/>
          <a:lstStyle/>
          <a:p>
            <a:r>
              <a:rPr lang="en-AU" altLang="en-US" sz="2000" dirty="0"/>
              <a:t>Strategic assessment / decision-making</a:t>
            </a:r>
          </a:p>
          <a:p>
            <a:r>
              <a:rPr lang="en-AU" altLang="en-US" sz="2000" dirty="0"/>
              <a:t>Usually strategy games</a:t>
            </a:r>
          </a:p>
          <a:p>
            <a:r>
              <a:rPr lang="en-AU" altLang="en-US" sz="2000" dirty="0"/>
              <a:t>Spatial representation of AI’s knowledge about the game world</a:t>
            </a:r>
          </a:p>
          <a:p>
            <a:r>
              <a:rPr lang="en-AU" altLang="en-US" sz="2000" dirty="0"/>
              <a:t>Strategic perspective of game state layered over geographical</a:t>
            </a:r>
          </a:p>
        </p:txBody>
      </p:sp>
      <p:sp>
        <p:nvSpPr>
          <p:cNvPr id="137221" name="Rectangle 5">
            <a:extLst>
              <a:ext uri="{FF2B5EF4-FFF2-40B4-BE49-F238E27FC236}">
                <a16:creationId xmlns:a16="http://schemas.microsoft.com/office/drawing/2014/main" id="{3FC988CA-32DF-49CA-4321-46974E396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172199"/>
            <a:ext cx="7661275" cy="56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89000" indent="-439738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3813" indent="-40322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81163" indent="-385763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3873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AU" altLang="en-US" sz="1400" baseline="30000" dirty="0"/>
              <a:t>1</a:t>
            </a:r>
            <a:r>
              <a:rPr lang="en-AU" altLang="en-US" sz="1400" dirty="0"/>
              <a:t>Tozour, P. (2001) Influence Mapping. In M. </a:t>
            </a:r>
            <a:r>
              <a:rPr lang="en-AU" altLang="en-US" sz="1400" dirty="0" err="1"/>
              <a:t>Deloura</a:t>
            </a:r>
            <a:r>
              <a:rPr lang="en-AU" altLang="en-US" sz="1400" dirty="0"/>
              <a:t> (Ed.), </a:t>
            </a:r>
            <a:r>
              <a:rPr lang="en-AU" altLang="en-US" sz="1400" i="1" dirty="0"/>
              <a:t>Game Programming Gems 2</a:t>
            </a:r>
            <a:r>
              <a:rPr lang="en-AU" altLang="en-US" sz="1400" dirty="0"/>
              <a:t>. Hingham, MA: Charles River Media, Inc., pp. 287-297.</a:t>
            </a:r>
            <a:r>
              <a:rPr lang="en-AU" altLang="en-US" sz="1600" dirty="0"/>
              <a:t> </a:t>
            </a:r>
          </a:p>
        </p:txBody>
      </p:sp>
      <p:pic>
        <p:nvPicPr>
          <p:cNvPr id="3" name="Picture 2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C170F7E6-37AC-0484-74F4-531B69A1D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4529" y="3809999"/>
            <a:ext cx="4218214" cy="2362200"/>
          </a:xfrm>
          <a:prstGeom prst="rect">
            <a:avLst/>
          </a:prstGeom>
        </p:spPr>
      </p:pic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C27BDFBD-948B-FF4F-FC81-BB6731DEF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3809999"/>
            <a:ext cx="4218214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ADBD2439-E4F5-661D-611D-8D78DA5A5C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Influence Maps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02707624-660D-642D-6E39-0D77AA42B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28801"/>
            <a:ext cx="7848600" cy="2590800"/>
          </a:xfrm>
        </p:spPr>
        <p:txBody>
          <a:bodyPr/>
          <a:lstStyle/>
          <a:p>
            <a:r>
              <a:rPr lang="en-AU" altLang="en-US" sz="2000" dirty="0"/>
              <a:t>Influence map indicates:</a:t>
            </a:r>
          </a:p>
          <a:p>
            <a:pPr lvl="1"/>
            <a:r>
              <a:rPr lang="en-AU" altLang="en-US" sz="1800" dirty="0"/>
              <a:t>where the AI’s forces are deployed</a:t>
            </a:r>
          </a:p>
          <a:p>
            <a:pPr lvl="1"/>
            <a:r>
              <a:rPr lang="en-AU" altLang="en-US" sz="1800" dirty="0"/>
              <a:t>where the enemy is / most likely to be </a:t>
            </a:r>
          </a:p>
          <a:p>
            <a:pPr lvl="1"/>
            <a:r>
              <a:rPr lang="en-AU" altLang="en-US" sz="1800" dirty="0"/>
              <a:t>where the “frontier” between players lies </a:t>
            </a:r>
          </a:p>
          <a:p>
            <a:pPr lvl="1"/>
            <a:r>
              <a:rPr lang="en-AU" altLang="en-US" sz="1800" dirty="0"/>
              <a:t>what areas are yet to be explored </a:t>
            </a:r>
          </a:p>
          <a:p>
            <a:pPr lvl="1"/>
            <a:r>
              <a:rPr lang="en-AU" altLang="en-US" sz="1800" dirty="0"/>
              <a:t>where significant battles have occurred </a:t>
            </a:r>
          </a:p>
          <a:p>
            <a:pPr lvl="1"/>
            <a:r>
              <a:rPr lang="en-AU" altLang="en-US" sz="1800" dirty="0"/>
              <a:t>where enemies are most likely to attack in the future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E07E2F6-DD6B-343F-DB30-F534EEEC0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343400"/>
            <a:ext cx="82296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altLang="en-US" sz="2000" dirty="0"/>
              <a:t>IM’s structure makes it possible to make intelligent inferences about:</a:t>
            </a:r>
          </a:p>
          <a:p>
            <a:pPr lvl="1"/>
            <a:r>
              <a:rPr lang="en-AU" altLang="en-US" sz="1800" dirty="0"/>
              <a:t>areas of high strategic control </a:t>
            </a:r>
          </a:p>
          <a:p>
            <a:pPr lvl="1"/>
            <a:r>
              <a:rPr lang="en-AU" altLang="en-US" sz="1800" dirty="0"/>
              <a:t>weak spots in an opponent’s defences </a:t>
            </a:r>
          </a:p>
          <a:p>
            <a:pPr lvl="1"/>
            <a:r>
              <a:rPr lang="en-AU" altLang="en-US" sz="1800" dirty="0"/>
              <a:t>prime “camping” locations </a:t>
            </a:r>
          </a:p>
          <a:p>
            <a:pPr lvl="1"/>
            <a:r>
              <a:rPr lang="en-AU" altLang="en-US" sz="1800" dirty="0"/>
              <a:t>strategically vulnerable areas </a:t>
            </a:r>
          </a:p>
          <a:p>
            <a:pPr lvl="1"/>
            <a:r>
              <a:rPr lang="en-AU" altLang="en-US" sz="1800" dirty="0"/>
              <a:t>other meaningful features that human players would choose through intuition.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64EA0848-D663-D0DC-686E-DC8F2E281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Influence Maps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820F810D-4572-D16D-0972-FDBA87B83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305800" cy="3505199"/>
          </a:xfrm>
        </p:spPr>
        <p:txBody>
          <a:bodyPr/>
          <a:lstStyle/>
          <a:p>
            <a:r>
              <a:rPr lang="en-AU" altLang="en-US" sz="2400" dirty="0"/>
              <a:t>IM tracks variables separately for each player (multiple parallel IM’s)</a:t>
            </a:r>
          </a:p>
          <a:p>
            <a:r>
              <a:rPr lang="en-AU" altLang="en-US" sz="2400" dirty="0"/>
              <a:t>Each AI keeps one IM for itself and one for every other player</a:t>
            </a:r>
          </a:p>
          <a:p>
            <a:r>
              <a:rPr lang="en-AU" altLang="en-US" sz="2400" dirty="0"/>
              <a:t>Could keep one IM and let all AI’s access it (but this is cheating)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F3CEE-A780-4F3C-82F3-9D0741D73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96" y="4004666"/>
            <a:ext cx="2685814" cy="26805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AF3B53-9EAE-A0DF-7580-91DCBF43E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712" y="3993715"/>
            <a:ext cx="2693721" cy="26805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6F57416D-F7B0-6B51-E1F9-B6C8F7C66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Influence Propagation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B07E8BCD-9F6C-CA37-B875-D25A2AADA2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325" y="1773238"/>
            <a:ext cx="7661275" cy="45354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AU" altLang="en-US" sz="1800" dirty="0"/>
              <a:t>Once initial values given to cells, needs to be propagated</a:t>
            </a:r>
          </a:p>
          <a:p>
            <a:pPr>
              <a:lnSpc>
                <a:spcPct val="90000"/>
              </a:lnSpc>
            </a:pPr>
            <a:r>
              <a:rPr lang="en-AU" altLang="en-US" sz="1800" dirty="0"/>
              <a:t>More accurate strategic perspective – current influence / potential influence</a:t>
            </a:r>
          </a:p>
          <a:p>
            <a:pPr>
              <a:lnSpc>
                <a:spcPct val="90000"/>
              </a:lnSpc>
            </a:pPr>
            <a:r>
              <a:rPr lang="en-AU" altLang="en-US" sz="1800" dirty="0"/>
              <a:t>Spread influence with “falloff” rule</a:t>
            </a:r>
          </a:p>
          <a:p>
            <a:pPr>
              <a:lnSpc>
                <a:spcPct val="90000"/>
              </a:lnSpc>
            </a:pPr>
            <a:r>
              <a:rPr lang="en-AU" altLang="en-US" sz="1800" dirty="0"/>
              <a:t>Selection of falloff rules is subjective, requires tweaking and tuning</a:t>
            </a:r>
          </a:p>
          <a:p>
            <a:pPr>
              <a:lnSpc>
                <a:spcPct val="90000"/>
              </a:lnSpc>
            </a:pPr>
            <a:r>
              <a:rPr lang="en-AU" altLang="en-US" sz="1800" dirty="0"/>
              <a:t>Exponential falloff – choose a constant 0..1</a:t>
            </a:r>
          </a:p>
          <a:p>
            <a:pPr>
              <a:lnSpc>
                <a:spcPct val="90000"/>
              </a:lnSpc>
            </a:pPr>
            <a:r>
              <a:rPr lang="en-AU" altLang="en-US" sz="1800" dirty="0"/>
              <a:t>Need to terminate falloff (never reaches 0)</a:t>
            </a:r>
          </a:p>
          <a:p>
            <a:pPr>
              <a:lnSpc>
                <a:spcPct val="90000"/>
              </a:lnSpc>
            </a:pPr>
            <a:r>
              <a:rPr lang="en-AU" altLang="en-US" sz="1800" dirty="0"/>
              <a:t>Falloff should be proportional to cell size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AACD9-D268-3EAE-B22C-D4E700C34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034132"/>
            <a:ext cx="5410200" cy="263641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8E1E1C8B-66FD-6BF0-C90A-00A666054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/>
              <a:t>Influence Propagation</a:t>
            </a:r>
          </a:p>
        </p:txBody>
      </p:sp>
      <p:sp>
        <p:nvSpPr>
          <p:cNvPr id="168966" name="Rectangle 6">
            <a:extLst>
              <a:ext uri="{FF2B5EF4-FFF2-40B4-BE49-F238E27FC236}">
                <a16:creationId xmlns:a16="http://schemas.microsoft.com/office/drawing/2014/main" id="{86BC9CCF-A931-9E64-811E-C6230B159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943600"/>
            <a:ext cx="76612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89000" indent="-439738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3813" indent="-40322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81163" indent="-385763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3873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AU" altLang="en-US" sz="1600" baseline="30000" dirty="0"/>
              <a:t>2</a:t>
            </a:r>
            <a:r>
              <a:rPr lang="en-AU" altLang="en-US" sz="1600" dirty="0"/>
              <a:t>Sweetser, P. (2004) Strategic Decision-Making with Neural Networks and Influence Maps. In S. Rabin (Ed.), AI </a:t>
            </a:r>
            <a:r>
              <a:rPr lang="en-AU" altLang="en-US" sz="1600" i="1" dirty="0"/>
              <a:t>Game Programming Wisdom 2</a:t>
            </a:r>
            <a:r>
              <a:rPr lang="en-AU" altLang="en-US" sz="1600" dirty="0"/>
              <a:t>. Hingham, MA: Charles River Media, Inc., pp. 439-446. </a:t>
            </a:r>
          </a:p>
        </p:txBody>
      </p:sp>
      <p:sp>
        <p:nvSpPr>
          <p:cNvPr id="168967" name="Rectangle 7">
            <a:extLst>
              <a:ext uri="{FF2B5EF4-FFF2-40B4-BE49-F238E27FC236}">
                <a16:creationId xmlns:a16="http://schemas.microsoft.com/office/drawing/2014/main" id="{1A7566D8-C3EC-1D65-F4A7-ECA791D1D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773238"/>
            <a:ext cx="381635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89000" indent="-439738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3813" indent="-40322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81163" indent="-385763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3873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2800"/>
              <a:t>Top-left:</a:t>
            </a:r>
          </a:p>
          <a:p>
            <a:pPr lvl="1"/>
            <a:r>
              <a:rPr lang="en-AU" altLang="en-US" sz="2400"/>
              <a:t>Game state</a:t>
            </a:r>
          </a:p>
          <a:p>
            <a:r>
              <a:rPr lang="en-AU" altLang="en-US" sz="2800"/>
              <a:t>Top-right:</a:t>
            </a:r>
          </a:p>
          <a:p>
            <a:pPr lvl="1"/>
            <a:r>
              <a:rPr lang="en-AU" altLang="en-US" sz="2400"/>
              <a:t>Propagation</a:t>
            </a:r>
          </a:p>
          <a:p>
            <a:r>
              <a:rPr lang="en-AU" altLang="en-US" sz="2800"/>
              <a:t>Lower-left:</a:t>
            </a:r>
          </a:p>
          <a:p>
            <a:pPr lvl="1"/>
            <a:r>
              <a:rPr lang="en-AU" altLang="en-US" sz="2400"/>
              <a:t>Influence values</a:t>
            </a:r>
          </a:p>
          <a:p>
            <a:r>
              <a:rPr lang="en-AU" altLang="en-US" sz="2800"/>
              <a:t>Lower-right: </a:t>
            </a:r>
          </a:p>
          <a:p>
            <a:pPr lvl="1"/>
            <a:r>
              <a:rPr lang="en-AU" altLang="en-US" sz="2400"/>
              <a:t>Influence grey scale</a:t>
            </a:r>
            <a:endParaRPr lang="en-AU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AB0A13-DF46-286E-F859-142F63649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37" y="1773238"/>
            <a:ext cx="4601663" cy="417475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00B4-1883-9835-772B-D58BC9B3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/>
              <a:t>Influence Propagation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D6292-7D6E-BA53-A813-A73409A0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3E48F8-4E02-4159-81CC-36D767E32ED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6" name="Picture 5" descr="A group of colorful squares&#10;&#10;Description automatically generated with medium confidence">
            <a:extLst>
              <a:ext uri="{FF2B5EF4-FFF2-40B4-BE49-F238E27FC236}">
                <a16:creationId xmlns:a16="http://schemas.microsoft.com/office/drawing/2014/main" id="{70C29BA2-6325-22D3-AF65-2E7C5136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875" y="1881187"/>
            <a:ext cx="8096250" cy="3095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3546AD-DADB-731E-CB87-B2631945A0CF}"/>
              </a:ext>
            </a:extLst>
          </p:cNvPr>
          <p:cNvSpPr txBox="1"/>
          <p:nvPr/>
        </p:nvSpPr>
        <p:spPr>
          <a:xfrm>
            <a:off x="314325" y="5307941"/>
            <a:ext cx="8305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/>
              <a:t>Preuss, Mike &amp; </a:t>
            </a:r>
            <a:r>
              <a:rPr lang="en-ID" sz="1400" dirty="0" err="1"/>
              <a:t>Hochstrate</a:t>
            </a:r>
            <a:r>
              <a:rPr lang="en-ID" sz="1400" dirty="0"/>
              <a:t>, Nicola &amp; </a:t>
            </a:r>
            <a:r>
              <a:rPr lang="en-ID" sz="1400" dirty="0" err="1"/>
              <a:t>Danielsiek</a:t>
            </a:r>
            <a:r>
              <a:rPr lang="en-ID" sz="1400" dirty="0"/>
              <a:t>, Holger &amp; Hein, Tobias &amp; </a:t>
            </a:r>
            <a:r>
              <a:rPr lang="en-ID" sz="1400" dirty="0" err="1"/>
              <a:t>Naujoks</a:t>
            </a:r>
            <a:r>
              <a:rPr lang="en-ID" sz="1400" dirty="0"/>
              <a:t>, Boris &amp; Piatkowski, Nico &amp; </a:t>
            </a:r>
            <a:r>
              <a:rPr lang="en-ID" sz="1400" dirty="0" err="1"/>
              <a:t>Stüer</a:t>
            </a:r>
            <a:r>
              <a:rPr lang="en-ID" sz="1400" dirty="0"/>
              <a:t>, Raphael &amp; Thom, Andreas &amp; Wessing, Simon. (2010). Towards Intelligent Team Composition and </a:t>
            </a:r>
            <a:r>
              <a:rPr lang="en-ID" sz="1400" dirty="0" err="1"/>
              <a:t>Maneuvering</a:t>
            </a:r>
            <a:r>
              <a:rPr lang="en-ID" sz="1400" dirty="0"/>
              <a:t> in Real-Time Strategy Games. Computational Intelligence and AI in Games, IEEE Transactions on. 2. 82 - 98. 10.1109/TCIAIG.2010.2047645. </a:t>
            </a:r>
          </a:p>
        </p:txBody>
      </p:sp>
    </p:spTree>
    <p:extLst>
      <p:ext uri="{BB962C8B-B14F-4D97-AF65-F5344CB8AC3E}">
        <p14:creationId xmlns:p14="http://schemas.microsoft.com/office/powerpoint/2010/main" val="126720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D18EA74F-CB6B-1EDC-E2EB-EB3E04E38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Weighted Sums for Desirability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9042A4C7-0873-68E1-6A96-92F1371AE2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/>
              <a:t>Weighted sums are simple / transparent</a:t>
            </a:r>
          </a:p>
          <a:p>
            <a:r>
              <a:rPr lang="en-AU" altLang="en-US"/>
              <a:t>But:</a:t>
            </a:r>
          </a:p>
          <a:p>
            <a:pPr lvl="1"/>
            <a:r>
              <a:rPr lang="en-AU" altLang="en-US"/>
              <a:t>Choosing the relevant variables is difficult</a:t>
            </a:r>
          </a:p>
          <a:p>
            <a:pPr lvl="1"/>
            <a:r>
              <a:rPr lang="en-AU" altLang="en-US"/>
              <a:t>Finding good weights is time-consuming</a:t>
            </a:r>
          </a:p>
          <a:p>
            <a:pPr lvl="1"/>
            <a:r>
              <a:rPr lang="en-AU" altLang="en-US"/>
              <a:t>Important info might be lost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28F52BD9-B60A-D806-97CE-9DAAAB420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Alternative to Weighted Sums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B7E9939D-F053-22CD-6064-2F54473D90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 sz="2800" dirty="0"/>
              <a:t>Simulated annealing or evolutionary approaches (GA, PSO) to find weights</a:t>
            </a:r>
          </a:p>
          <a:p>
            <a:r>
              <a:rPr lang="en-AU" altLang="en-US" sz="2800" dirty="0"/>
              <a:t>Neural networks (MLP):</a:t>
            </a:r>
          </a:p>
          <a:p>
            <a:pPr lvl="1"/>
            <a:r>
              <a:rPr lang="en-AU" altLang="en-US" sz="2400" dirty="0"/>
              <a:t>Determine variables that most influence the decision / ignore irrelevant variables</a:t>
            </a:r>
          </a:p>
          <a:p>
            <a:pPr lvl="1"/>
            <a:r>
              <a:rPr lang="en-AU" altLang="en-US" sz="2400" dirty="0"/>
              <a:t>Variables are analysed in parallel; info in individual variables is not lost</a:t>
            </a:r>
          </a:p>
          <a:p>
            <a:pPr lvl="1"/>
            <a:r>
              <a:rPr lang="en-AU" altLang="en-US" sz="2400" dirty="0"/>
              <a:t>Weights are determined during training</a:t>
            </a:r>
          </a:p>
        </p:txBody>
      </p:sp>
      <p:sp>
        <p:nvSpPr>
          <p:cNvPr id="173060" name="Rectangle 4">
            <a:extLst>
              <a:ext uri="{FF2B5EF4-FFF2-40B4-BE49-F238E27FC236}">
                <a16:creationId xmlns:a16="http://schemas.microsoft.com/office/drawing/2014/main" id="{52067351-3DD0-07B3-DF37-D634F920A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562600"/>
            <a:ext cx="76612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89000" indent="-439738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3813" indent="-403225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81163" indent="-385763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0100" indent="-3873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73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45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417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8900" indent="-38735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buFont typeface="Wingdings" panose="05000000000000000000" pitchFamily="2" charset="2"/>
              <a:buNone/>
            </a:pPr>
            <a:r>
              <a:rPr lang="en-AU" altLang="en-US" sz="1800" dirty="0"/>
              <a:t>Sweetser, P. (2004) Strategic Decision-Making with Neural Networks and Influence Maps. In S. Rabin (Ed.), AI </a:t>
            </a:r>
            <a:r>
              <a:rPr lang="en-AU" altLang="en-US" sz="1800" i="1" dirty="0"/>
              <a:t>Game Programming Wisdom 2</a:t>
            </a:r>
            <a:r>
              <a:rPr lang="en-AU" altLang="en-US" sz="1800" dirty="0"/>
              <a:t>. Hingham, MA: Charles River Media, Inc., pp. 439-446.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838200"/>
          </a:xfrm>
        </p:spPr>
        <p:txBody>
          <a:bodyPr/>
          <a:lstStyle/>
          <a:p>
            <a:pPr eaLnBrk="1" hangingPunct="1"/>
            <a:r>
              <a:rPr lang="en-US" sz="4000" b="1"/>
              <a:t>Finite State Machines (Otomata) </a:t>
            </a:r>
          </a:p>
        </p:txBody>
      </p:sp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BB46FF-38FB-434D-A167-39DD1CAE420A}" type="slidenum">
              <a:rPr lang="en-US" smtClean="0">
                <a:latin typeface="Arial" panose="020B0604020202020204" pitchFamily="34" charset="0"/>
              </a:rPr>
              <a:pPr/>
              <a:t>30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71689" name="Picture 9" descr="pacman-ghost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40000" contrast="-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1788" y="2133600"/>
            <a:ext cx="3427412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381000" y="1676400"/>
            <a:ext cx="83820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6213" indent="-176213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3325" indent="-288925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Char char="•"/>
            </a:pPr>
            <a:r>
              <a:rPr lang="en-US" sz="2400" b="1" i="1">
                <a:solidFill>
                  <a:srgbClr val="009900"/>
                </a:solidFill>
              </a:rPr>
              <a:t>A Finite State Machine</a:t>
            </a:r>
            <a:r>
              <a:rPr lang="en-US" sz="2400"/>
              <a:t> depicts </a:t>
            </a:r>
            <a:r>
              <a:rPr lang="en-US" sz="2400" b="1" i="1">
                <a:solidFill>
                  <a:srgbClr val="009900"/>
                </a:solidFill>
              </a:rPr>
              <a:t>the entity's (virtual character’s) brain</a:t>
            </a:r>
            <a:r>
              <a:rPr lang="en-US" sz="2400"/>
              <a:t> as:</a:t>
            </a:r>
          </a:p>
          <a:p>
            <a:pPr lvl="1" algn="just">
              <a:buFontTx/>
              <a:buChar char="•"/>
            </a:pPr>
            <a:r>
              <a:rPr lang="en-US" sz="2400"/>
              <a:t>A group of possible </a:t>
            </a:r>
            <a:r>
              <a:rPr lang="en-US" sz="2400" b="1">
                <a:solidFill>
                  <a:srgbClr val="009900"/>
                </a:solidFill>
              </a:rPr>
              <a:t>actions</a:t>
            </a:r>
            <a:r>
              <a:rPr lang="en-US" sz="2400"/>
              <a:t> (</a:t>
            </a:r>
            <a:r>
              <a:rPr lang="en-US" sz="2400" b="1">
                <a:solidFill>
                  <a:srgbClr val="009900"/>
                </a:solidFill>
              </a:rPr>
              <a:t>the</a:t>
            </a:r>
            <a:r>
              <a:rPr lang="en-US" sz="2400"/>
              <a:t> </a:t>
            </a:r>
            <a:r>
              <a:rPr lang="en-US" sz="2400" b="1">
                <a:solidFill>
                  <a:srgbClr val="009900"/>
                </a:solidFill>
              </a:rPr>
              <a:t>states</a:t>
            </a:r>
            <a:r>
              <a:rPr lang="en-US" sz="2400"/>
              <a:t>)</a:t>
            </a:r>
          </a:p>
          <a:p>
            <a:pPr lvl="1" algn="just">
              <a:buFontTx/>
              <a:buChar char="•"/>
            </a:pPr>
            <a:r>
              <a:rPr lang="en-US" sz="2400"/>
              <a:t>Ways to change from one action to the other.</a:t>
            </a:r>
          </a:p>
        </p:txBody>
      </p:sp>
      <p:pic>
        <p:nvPicPr>
          <p:cNvPr id="71686" name="Picture 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" y="3200400"/>
            <a:ext cx="6248400" cy="356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5181600" y="3552825"/>
            <a:ext cx="38100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indent="-284163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2400" b="1">
                <a:solidFill>
                  <a:srgbClr val="FF0000"/>
                </a:solidFill>
              </a:rPr>
              <a:t>The Ghosts in Pac Man:</a:t>
            </a:r>
            <a:r>
              <a:rPr lang="en-US" sz="2400"/>
              <a:t> </a:t>
            </a:r>
          </a:p>
          <a:p>
            <a:pPr lvl="1">
              <a:buFontTx/>
              <a:buChar char="•"/>
            </a:pPr>
            <a:r>
              <a:rPr lang="en-US" sz="2400"/>
              <a:t>Roam freely </a:t>
            </a:r>
          </a:p>
          <a:p>
            <a:pPr lvl="1">
              <a:buFontTx/>
              <a:buChar char="•"/>
            </a:pPr>
            <a:r>
              <a:rPr lang="en-US" sz="2400"/>
              <a:t>Chase the player</a:t>
            </a:r>
          </a:p>
          <a:p>
            <a:pPr lvl="1">
              <a:buFontTx/>
              <a:buChar char="•"/>
            </a:pPr>
            <a:r>
              <a:rPr lang="en-US" sz="2400"/>
              <a:t>Evade the player (if blue)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/>
      <p:bldP spid="7168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C6E454A-BAD6-229D-12FA-9F27F39D9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FSM’s in Theory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BE929D2-0F7D-47A4-77C5-9A93FB0D28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800"/>
              <a:t>Simple theoretical construct</a:t>
            </a:r>
          </a:p>
          <a:p>
            <a:pPr lvl="1"/>
            <a:r>
              <a:rPr lang="en-US" altLang="en-US" sz="2400"/>
              <a:t>Set of states (S)</a:t>
            </a:r>
          </a:p>
          <a:p>
            <a:pPr lvl="1"/>
            <a:r>
              <a:rPr lang="en-US" altLang="en-US" sz="2400"/>
              <a:t>Input vocabulary (I)</a:t>
            </a:r>
          </a:p>
          <a:p>
            <a:pPr lvl="1"/>
            <a:r>
              <a:rPr lang="en-US" altLang="en-US" sz="2400"/>
              <a:t>Transitional function T(s,i)</a:t>
            </a:r>
          </a:p>
          <a:p>
            <a:r>
              <a:rPr lang="en-US" altLang="en-US" sz="2800"/>
              <a:t>A way of denoting how an object can change its state over time.</a:t>
            </a:r>
          </a:p>
          <a:p>
            <a:endParaRPr lang="en-US" altLang="en-US" sz="2800"/>
          </a:p>
          <a:p>
            <a:endParaRPr lang="en-US" altLang="en-US" sz="2800"/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8DE878D0-B971-A56B-3E09-266E3E31478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95800" y="2438400"/>
            <a:ext cx="4419600" cy="27463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C01D860-0C44-61C8-4C25-144C1A8EC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FSM’s in Practice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1BDDA68-2160-5008-9B18-1F6B45D5DB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Each state represents some desired behavior.</a:t>
            </a:r>
          </a:p>
          <a:p>
            <a:r>
              <a:rPr lang="en-US" altLang="en-US" sz="2800"/>
              <a:t>The transition function T resides across all states. </a:t>
            </a:r>
          </a:p>
          <a:p>
            <a:pPr lvl="1"/>
            <a:r>
              <a:rPr lang="en-US" altLang="en-US" sz="2400"/>
              <a:t>Each state “knows” how to transition to other states.</a:t>
            </a:r>
          </a:p>
          <a:p>
            <a:r>
              <a:rPr lang="en-US" altLang="en-US" sz="2800"/>
              <a:t>Accepting states (those that require more input) are considered to be the end of execution for an FSM.</a:t>
            </a:r>
          </a:p>
          <a:p>
            <a:r>
              <a:rPr lang="en-US" altLang="en-US" sz="2800"/>
              <a:t>Input to the FSM continues as long as the game continues.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1B6C958-403F-58A6-3824-5F945B8AC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FSM’s in Games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07725B0-5BF2-B27E-E7D9-4C6D679FAA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08176"/>
            <a:ext cx="4114800" cy="4489449"/>
          </a:xfrm>
        </p:spPr>
        <p:txBody>
          <a:bodyPr/>
          <a:lstStyle/>
          <a:p>
            <a:r>
              <a:rPr lang="en-US" altLang="en-US" sz="2800" dirty="0"/>
              <a:t>Character AI can be modeled as a sequence of mental states.</a:t>
            </a:r>
          </a:p>
          <a:p>
            <a:r>
              <a:rPr lang="en-US" altLang="en-US" sz="2800" dirty="0"/>
              <a:t>World events can force a change in state.</a:t>
            </a:r>
          </a:p>
          <a:p>
            <a:r>
              <a:rPr lang="en-US" altLang="en-US" sz="2800" dirty="0"/>
              <a:t>The mental model is easy to grasp, even for non-programmers.</a:t>
            </a:r>
          </a:p>
        </p:txBody>
      </p:sp>
      <p:sp>
        <p:nvSpPr>
          <p:cNvPr id="25606" name="AutoShape 6">
            <a:extLst>
              <a:ext uri="{FF2B5EF4-FFF2-40B4-BE49-F238E27FC236}">
                <a16:creationId xmlns:a16="http://schemas.microsoft.com/office/drawing/2014/main" id="{241EAAB5-F0F7-1F28-2B21-9D78C00DD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743200"/>
            <a:ext cx="1524000" cy="609600"/>
          </a:xfrm>
          <a:prstGeom prst="flowChartTerminator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solidFill>
                  <a:schemeClr val="bg1"/>
                </a:solidFill>
              </a:rPr>
              <a:t>Gather 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Treasure</a:t>
            </a:r>
          </a:p>
        </p:txBody>
      </p:sp>
      <p:sp>
        <p:nvSpPr>
          <p:cNvPr id="25607" name="AutoShape 7">
            <a:extLst>
              <a:ext uri="{FF2B5EF4-FFF2-40B4-BE49-F238E27FC236}">
                <a16:creationId xmlns:a16="http://schemas.microsoft.com/office/drawing/2014/main" id="{588D41B1-8CEC-3429-47C4-E663B3566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743200"/>
            <a:ext cx="1524000" cy="609600"/>
          </a:xfrm>
          <a:prstGeom prst="flowChartTerminator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solidFill>
                  <a:schemeClr val="bg1"/>
                </a:solidFill>
              </a:rPr>
              <a:t>Flee</a:t>
            </a:r>
          </a:p>
        </p:txBody>
      </p:sp>
      <p:sp>
        <p:nvSpPr>
          <p:cNvPr id="25608" name="AutoShape 8">
            <a:extLst>
              <a:ext uri="{FF2B5EF4-FFF2-40B4-BE49-F238E27FC236}">
                <a16:creationId xmlns:a16="http://schemas.microsoft.com/office/drawing/2014/main" id="{CAC89E57-C1EA-F933-D1D1-24C5AB04D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114800"/>
            <a:ext cx="1524000" cy="609600"/>
          </a:xfrm>
          <a:prstGeom prst="flowChartTerminator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solidFill>
                  <a:schemeClr val="bg1"/>
                </a:solidFill>
              </a:rPr>
              <a:t>Fight</a:t>
            </a:r>
          </a:p>
        </p:txBody>
      </p:sp>
      <p:cxnSp>
        <p:nvCxnSpPr>
          <p:cNvPr id="25610" name="AutoShape 10">
            <a:extLst>
              <a:ext uri="{FF2B5EF4-FFF2-40B4-BE49-F238E27FC236}">
                <a16:creationId xmlns:a16="http://schemas.microsoft.com/office/drawing/2014/main" id="{00784853-C0ED-C3B6-60A0-E6FA256A19BD}"/>
              </a:ext>
            </a:extLst>
          </p:cNvPr>
          <p:cNvCxnSpPr>
            <a:cxnSpLocks noChangeShapeType="1"/>
            <a:stCxn id="25606" idx="0"/>
            <a:endCxn id="25607" idx="0"/>
          </p:cNvCxnSpPr>
          <p:nvPr/>
        </p:nvCxnSpPr>
        <p:spPr bwMode="auto">
          <a:xfrm rot="5400000" flipV="1">
            <a:off x="6933406" y="1658144"/>
            <a:ext cx="1588" cy="2133600"/>
          </a:xfrm>
          <a:prstGeom prst="curvedConnector3">
            <a:avLst>
              <a:gd name="adj1" fmla="val -13200000"/>
            </a:avLst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1" name="AutoShape 11">
            <a:extLst>
              <a:ext uri="{FF2B5EF4-FFF2-40B4-BE49-F238E27FC236}">
                <a16:creationId xmlns:a16="http://schemas.microsoft.com/office/drawing/2014/main" id="{C1694D4B-C822-8094-79F4-7AFADC7F6FF2}"/>
              </a:ext>
            </a:extLst>
          </p:cNvPr>
          <p:cNvCxnSpPr>
            <a:cxnSpLocks noChangeShapeType="1"/>
            <a:stCxn id="25607" idx="2"/>
            <a:endCxn id="25606" idx="2"/>
          </p:cNvCxnSpPr>
          <p:nvPr/>
        </p:nvCxnSpPr>
        <p:spPr bwMode="auto">
          <a:xfrm rot="5400000">
            <a:off x="6933406" y="2305844"/>
            <a:ext cx="1588" cy="2133600"/>
          </a:xfrm>
          <a:prstGeom prst="curvedConnector3">
            <a:avLst>
              <a:gd name="adj1" fmla="val 13200000"/>
            </a:avLst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2" name="AutoShape 12">
            <a:extLst>
              <a:ext uri="{FF2B5EF4-FFF2-40B4-BE49-F238E27FC236}">
                <a16:creationId xmlns:a16="http://schemas.microsoft.com/office/drawing/2014/main" id="{51D96396-0290-1B9D-8962-F2EB9660D5FE}"/>
              </a:ext>
            </a:extLst>
          </p:cNvPr>
          <p:cNvCxnSpPr>
            <a:cxnSpLocks noChangeShapeType="1"/>
            <a:stCxn id="25607" idx="3"/>
            <a:endCxn id="25608" idx="3"/>
          </p:cNvCxnSpPr>
          <p:nvPr/>
        </p:nvCxnSpPr>
        <p:spPr bwMode="auto">
          <a:xfrm flipH="1">
            <a:off x="7791450" y="3048000"/>
            <a:ext cx="990600" cy="1371600"/>
          </a:xfrm>
          <a:prstGeom prst="curvedConnector3">
            <a:avLst>
              <a:gd name="adj1" fmla="val -21153"/>
            </a:avLst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4" name="AutoShape 14">
            <a:extLst>
              <a:ext uri="{FF2B5EF4-FFF2-40B4-BE49-F238E27FC236}">
                <a16:creationId xmlns:a16="http://schemas.microsoft.com/office/drawing/2014/main" id="{4213C27B-32FA-BC40-A5E4-E619D6534D34}"/>
              </a:ext>
            </a:extLst>
          </p:cNvPr>
          <p:cNvCxnSpPr>
            <a:cxnSpLocks noChangeShapeType="1"/>
            <a:stCxn id="25608" idx="1"/>
            <a:endCxn id="25606" idx="1"/>
          </p:cNvCxnSpPr>
          <p:nvPr/>
        </p:nvCxnSpPr>
        <p:spPr bwMode="auto">
          <a:xfrm rot="10800000">
            <a:off x="5086350" y="3048000"/>
            <a:ext cx="1143000" cy="1371600"/>
          </a:xfrm>
          <a:prstGeom prst="curvedConnector3">
            <a:avLst>
              <a:gd name="adj1" fmla="val 118333"/>
            </a:avLst>
          </a:prstGeom>
          <a:noFill/>
          <a:ln w="5715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15" name="Text Box 15">
            <a:extLst>
              <a:ext uri="{FF2B5EF4-FFF2-40B4-BE49-F238E27FC236}">
                <a16:creationId xmlns:a16="http://schemas.microsoft.com/office/drawing/2014/main" id="{1C1E70ED-7FD3-47C3-72BB-BA215DEBE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209800"/>
            <a:ext cx="1474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Monster In Sight</a:t>
            </a:r>
          </a:p>
        </p:txBody>
      </p:sp>
      <p:sp>
        <p:nvSpPr>
          <p:cNvPr id="25616" name="Text Box 16">
            <a:extLst>
              <a:ext uri="{FF2B5EF4-FFF2-40B4-BE49-F238E27FC236}">
                <a16:creationId xmlns:a16="http://schemas.microsoft.com/office/drawing/2014/main" id="{700E8A5A-79C3-35AE-805D-CC574AA7A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581400"/>
            <a:ext cx="11001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No Monster</a:t>
            </a:r>
          </a:p>
        </p:txBody>
      </p:sp>
      <p:sp>
        <p:nvSpPr>
          <p:cNvPr id="25617" name="Text Box 17">
            <a:extLst>
              <a:ext uri="{FF2B5EF4-FFF2-40B4-BE49-F238E27FC236}">
                <a16:creationId xmlns:a16="http://schemas.microsoft.com/office/drawing/2014/main" id="{290CE53B-0501-25E6-0398-CDED4BFCF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4343400"/>
            <a:ext cx="12969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Monster Dead</a:t>
            </a:r>
          </a:p>
        </p:txBody>
      </p:sp>
      <p:sp>
        <p:nvSpPr>
          <p:cNvPr id="25618" name="Text Box 18">
            <a:extLst>
              <a:ext uri="{FF2B5EF4-FFF2-40B4-BE49-F238E27FC236}">
                <a16:creationId xmlns:a16="http://schemas.microsoft.com/office/drawing/2014/main" id="{428029A5-5EC5-06E4-68FE-E3BB56C1B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5463" y="4343400"/>
            <a:ext cx="9223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Cornered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b="1"/>
              <a:t>Finite State Machines </a:t>
            </a:r>
          </a:p>
        </p:txBody>
      </p:sp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A2E99AC-9346-4C01-9E30-539CADC31094}" type="slidenum">
              <a:rPr lang="en-US" smtClean="0">
                <a:latin typeface="Arial" panose="020B0604020202020204" pitchFamily="34" charset="0"/>
              </a:rPr>
              <a:pPr/>
              <a:t>34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3491" name="Picture 6"/>
          <p:cNvPicPr>
            <a:picLocks noChangeAspect="1" noChangeArrowheads="1"/>
          </p:cNvPicPr>
          <p:nvPr/>
        </p:nvPicPr>
        <p:blipFill>
          <a:blip r:embed="rId3">
            <a:lum bright="50000" contrast="-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0" y="609600"/>
            <a:ext cx="2239963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6499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35375" y="1800225"/>
            <a:ext cx="548640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381000" y="1876425"/>
            <a:ext cx="3200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6213" indent="-176213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Char char="•"/>
            </a:pPr>
            <a:r>
              <a:rPr lang="en-US" sz="2000"/>
              <a:t>The enemy is in an outdoors area with no obstacles.</a:t>
            </a:r>
          </a:p>
          <a:p>
            <a:pPr algn="just">
              <a:buFontTx/>
              <a:buChar char="•"/>
            </a:pPr>
            <a:r>
              <a:rPr lang="en-US" sz="2000"/>
              <a:t>He carries a long sword.</a:t>
            </a:r>
          </a:p>
          <a:p>
            <a:pPr algn="just">
              <a:buFontTx/>
              <a:buChar char="•"/>
            </a:pPr>
            <a:r>
              <a:rPr lang="en-US" sz="2000"/>
              <a:t>He has a </a:t>
            </a:r>
            <a:r>
              <a:rPr lang="en-US" sz="2000" b="1"/>
              <a:t>predefined set of waypoints</a:t>
            </a:r>
            <a:r>
              <a:rPr lang="en-US" sz="2000"/>
              <a:t> to patrols in a cyclical way.</a:t>
            </a:r>
          </a:p>
          <a:p>
            <a:pPr algn="just">
              <a:buFontTx/>
              <a:buChar char="•"/>
            </a:pPr>
            <a:r>
              <a:rPr lang="en-US" sz="2000"/>
              <a:t>The enemy activates when you get inside his </a:t>
            </a:r>
            <a:r>
              <a:rPr lang="en-US" sz="2000" b="1"/>
              <a:t>viewing cone.</a:t>
            </a:r>
          </a:p>
          <a:p>
            <a:pPr algn="just">
              <a:buFontTx/>
              <a:buChar char="•"/>
            </a:pPr>
            <a:r>
              <a:rPr lang="en-US" sz="2000"/>
              <a:t>If he sees you, he </a:t>
            </a:r>
            <a:r>
              <a:rPr lang="en-US" sz="2400"/>
              <a:t>chases</a:t>
            </a:r>
            <a:r>
              <a:rPr lang="en-US" sz="2000"/>
              <a:t> you around.</a:t>
            </a:r>
          </a:p>
          <a:p>
            <a:pPr algn="just">
              <a:buFontTx/>
              <a:buChar char="•"/>
            </a:pPr>
            <a:r>
              <a:rPr lang="en-US" sz="2000"/>
              <a:t>If in close contact, he will remain stopped and hitting you with the sword.</a:t>
            </a:r>
          </a:p>
        </p:txBody>
      </p: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5505450" y="2362200"/>
            <a:ext cx="2343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b="1"/>
              <a:t>The Patrolling Enemy</a:t>
            </a:r>
          </a:p>
        </p:txBody>
      </p:sp>
      <p:pic>
        <p:nvPicPr>
          <p:cNvPr id="106503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0" y="609600"/>
            <a:ext cx="2239963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497" name="Line 8"/>
          <p:cNvSpPr>
            <a:spLocks noChangeShapeType="1"/>
          </p:cNvSpPr>
          <p:nvPr/>
        </p:nvSpPr>
        <p:spPr bwMode="auto">
          <a:xfrm>
            <a:off x="4800600" y="1752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8" name="Line 9"/>
          <p:cNvSpPr>
            <a:spLocks noChangeShapeType="1"/>
          </p:cNvSpPr>
          <p:nvPr/>
        </p:nvSpPr>
        <p:spPr bwMode="auto">
          <a:xfrm flipH="1">
            <a:off x="7239000" y="1752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/>
      <p:bldP spid="10650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/>
              <a:t>Finite State Machines </a:t>
            </a:r>
          </a:p>
        </p:txBody>
      </p:sp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EDCCEB-F4F2-4540-B517-274CC9ADC27D}" type="slidenum">
              <a:rPr lang="en-US" smtClean="0">
                <a:latin typeface="Arial" panose="020B0604020202020204" pitchFamily="34" charset="0"/>
              </a:rPr>
              <a:pPr/>
              <a:t>35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5540" name="Picture 3"/>
          <p:cNvPicPr>
            <a:picLocks noChangeAspect="1" noChangeArrowheads="1"/>
          </p:cNvPicPr>
          <p:nvPr/>
        </p:nvPicPr>
        <p:blipFill>
          <a:blip r:embed="rId3">
            <a:lum bright="-10000" contras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1828800"/>
            <a:ext cx="5638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5791200" y="1876425"/>
            <a:ext cx="3200400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/>
              <a:t>#define SEEK_WAYPOINT 0</a:t>
            </a:r>
          </a:p>
          <a:p>
            <a:r>
              <a:rPr lang="en-US" sz="1600"/>
              <a:t>#define REALIGN_WAYPOINT 1</a:t>
            </a:r>
          </a:p>
          <a:p>
            <a:r>
              <a:rPr lang="en-US" sz="1600"/>
              <a:t>(...)</a:t>
            </a:r>
          </a:p>
          <a:p>
            <a:endParaRPr lang="en-US" sz="1600"/>
          </a:p>
          <a:p>
            <a:r>
              <a:rPr lang="en-US" sz="1600"/>
              <a:t>int state;</a:t>
            </a:r>
          </a:p>
          <a:p>
            <a:r>
              <a:rPr lang="en-US" sz="1600"/>
              <a:t>switch (state)</a:t>
            </a:r>
          </a:p>
          <a:p>
            <a:r>
              <a:rPr lang="en-US" sz="1600"/>
              <a:t>{</a:t>
            </a:r>
          </a:p>
          <a:p>
            <a:r>
              <a:rPr lang="en-US" sz="1600"/>
              <a:t>     case 0:</a:t>
            </a:r>
          </a:p>
          <a:p>
            <a:r>
              <a:rPr lang="en-US" sz="1600"/>
              <a:t>     {</a:t>
            </a:r>
          </a:p>
          <a:p>
            <a:r>
              <a:rPr lang="en-US" sz="1600"/>
              <a:t>           // code for this specific state</a:t>
            </a:r>
          </a:p>
          <a:p>
            <a:r>
              <a:rPr lang="en-US" sz="1600"/>
              <a:t>           break;</a:t>
            </a:r>
          </a:p>
          <a:p>
            <a:r>
              <a:rPr lang="en-US" sz="1600"/>
              <a:t>      }</a:t>
            </a:r>
          </a:p>
          <a:p>
            <a:r>
              <a:rPr lang="en-US" sz="1600"/>
              <a:t>      (...)</a:t>
            </a:r>
          </a:p>
          <a:p>
            <a:r>
              <a:rPr lang="en-US" sz="1600"/>
              <a:t>      case N-1:</a:t>
            </a:r>
          </a:p>
          <a:p>
            <a:r>
              <a:rPr lang="en-US" sz="1600"/>
              <a:t>      {</a:t>
            </a:r>
          </a:p>
          <a:p>
            <a:r>
              <a:rPr lang="en-US" sz="1600"/>
              <a:t>           // code for this specific state</a:t>
            </a:r>
          </a:p>
          <a:p>
            <a:r>
              <a:rPr lang="en-US" sz="1600"/>
              <a:t>           break;</a:t>
            </a:r>
          </a:p>
          <a:p>
            <a:r>
              <a:rPr lang="en-US" sz="1600"/>
              <a:t>      }</a:t>
            </a:r>
          </a:p>
          <a:p>
            <a:r>
              <a:rPr lang="en-US" sz="1600"/>
              <a:t>}</a:t>
            </a:r>
          </a:p>
        </p:txBody>
      </p:sp>
      <p:sp>
        <p:nvSpPr>
          <p:cNvPr id="65542" name="Text Box 5"/>
          <p:cNvSpPr txBox="1">
            <a:spLocks noChangeArrowheads="1"/>
          </p:cNvSpPr>
          <p:nvPr/>
        </p:nvSpPr>
        <p:spPr bwMode="auto">
          <a:xfrm>
            <a:off x="2286000" y="2362200"/>
            <a:ext cx="2343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b="1"/>
              <a:t>The Patrolling Enemy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/>
              <a:t>Finite State Machines</a:t>
            </a:r>
          </a:p>
        </p:txBody>
      </p:sp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16FFD2-BC5F-4DAC-81CC-ED27FD7665F5}" type="slidenum">
              <a:rPr lang="en-US" smtClean="0">
                <a:latin typeface="Arial" panose="020B0604020202020204" pitchFamily="34" charset="0"/>
              </a:rPr>
              <a:pPr/>
              <a:t>36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73737" name="Picture 9"/>
          <p:cNvPicPr>
            <a:picLocks noChangeAspect="1" noChangeArrowheads="1"/>
          </p:cNvPicPr>
          <p:nvPr/>
        </p:nvPicPr>
        <p:blipFill>
          <a:blip r:embed="rId3">
            <a:lum bright="50000" contrast="-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05400" y="1600200"/>
            <a:ext cx="2360613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48000" y="2006600"/>
            <a:ext cx="5943600" cy="454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5">
            <a:lum bright="-1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14525"/>
            <a:ext cx="1547813" cy="395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733" name="AutoShape 5"/>
          <p:cNvSpPr>
            <a:spLocks noChangeArrowheads="1"/>
          </p:cNvSpPr>
          <p:nvPr/>
        </p:nvSpPr>
        <p:spPr bwMode="auto">
          <a:xfrm>
            <a:off x="1524000" y="3733800"/>
            <a:ext cx="1447800" cy="304800"/>
          </a:xfrm>
          <a:prstGeom prst="rightArrow">
            <a:avLst>
              <a:gd name="adj1" fmla="val 50000"/>
              <a:gd name="adj2" fmla="val 1187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457200" y="5957888"/>
            <a:ext cx="1993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b="1"/>
              <a:t>Enemy with a rifle</a:t>
            </a:r>
          </a:p>
        </p:txBody>
      </p:sp>
      <p:pic>
        <p:nvPicPr>
          <p:cNvPr id="73738" name="Picture 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05400" y="1600200"/>
            <a:ext cx="235585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594" name="Line 11"/>
          <p:cNvSpPr>
            <a:spLocks noChangeShapeType="1"/>
          </p:cNvSpPr>
          <p:nvPr/>
        </p:nvSpPr>
        <p:spPr bwMode="auto">
          <a:xfrm>
            <a:off x="4648200" y="17526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595" name="Line 12"/>
          <p:cNvSpPr>
            <a:spLocks noChangeShapeType="1"/>
          </p:cNvSpPr>
          <p:nvPr/>
        </p:nvSpPr>
        <p:spPr bwMode="auto">
          <a:xfrm flipH="1">
            <a:off x="6705600" y="1752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 animBg="1"/>
      <p:bldP spid="7373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602B9B-20F4-BF56-5053-F53B1B83AAFB}"/>
              </a:ext>
            </a:extLst>
          </p:cNvPr>
          <p:cNvSpPr/>
          <p:nvPr/>
        </p:nvSpPr>
        <p:spPr bwMode="auto">
          <a:xfrm>
            <a:off x="228600" y="1524000"/>
            <a:ext cx="8763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ADC194F4-DDCF-73B5-2D69-ADCCE5CBE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TW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An Example of FSM</a:t>
            </a:r>
            <a:endParaRPr lang="en-US" altLang="zh-TW" sz="28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6388" name="AutoShape 5">
            <a:extLst>
              <a:ext uri="{FF2B5EF4-FFF2-40B4-BE49-F238E27FC236}">
                <a16:creationId xmlns:a16="http://schemas.microsoft.com/office/drawing/2014/main" id="{8135F171-BB03-248A-B2AF-12640576D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209800"/>
            <a:ext cx="1651000" cy="10160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wander</a:t>
            </a:r>
          </a:p>
        </p:txBody>
      </p:sp>
      <p:sp>
        <p:nvSpPr>
          <p:cNvPr id="16389" name="AutoShape 6">
            <a:extLst>
              <a:ext uri="{FF2B5EF4-FFF2-40B4-BE49-F238E27FC236}">
                <a16:creationId xmlns:a16="http://schemas.microsoft.com/office/drawing/2014/main" id="{7789080D-EE6F-BAFB-79E2-38D295322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2819400"/>
            <a:ext cx="1739900" cy="12446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Attack</a:t>
            </a:r>
          </a:p>
        </p:txBody>
      </p:sp>
      <p:sp>
        <p:nvSpPr>
          <p:cNvPr id="16390" name="AutoShape 7">
            <a:extLst>
              <a:ext uri="{FF2B5EF4-FFF2-40B4-BE49-F238E27FC236}">
                <a16:creationId xmlns:a16="http://schemas.microsoft.com/office/drawing/2014/main" id="{3FEDD488-0A4B-79ED-603F-9E96754DC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5676900"/>
            <a:ext cx="1879600" cy="8890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/>
              <a:t>Rot</a:t>
            </a:r>
          </a:p>
        </p:txBody>
      </p:sp>
      <p:cxnSp>
        <p:nvCxnSpPr>
          <p:cNvPr id="16391" name="AutoShape 8">
            <a:extLst>
              <a:ext uri="{FF2B5EF4-FFF2-40B4-BE49-F238E27FC236}">
                <a16:creationId xmlns:a16="http://schemas.microsoft.com/office/drawing/2014/main" id="{9608BEF0-3C46-B72B-1512-CED3CEE34F80}"/>
              </a:ext>
            </a:extLst>
          </p:cNvPr>
          <p:cNvCxnSpPr>
            <a:cxnSpLocks noChangeShapeType="1"/>
            <a:stCxn id="16389" idx="2"/>
            <a:endCxn id="16390" idx="3"/>
          </p:cNvCxnSpPr>
          <p:nvPr/>
        </p:nvCxnSpPr>
        <p:spPr bwMode="auto">
          <a:xfrm rot="5400000">
            <a:off x="5006975" y="4327525"/>
            <a:ext cx="2057400" cy="153035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2" name="AutoShape 10">
            <a:extLst>
              <a:ext uri="{FF2B5EF4-FFF2-40B4-BE49-F238E27FC236}">
                <a16:creationId xmlns:a16="http://schemas.microsoft.com/office/drawing/2014/main" id="{DEA6EBBA-B7C0-888F-E817-84F39C0C54CA}"/>
              </a:ext>
            </a:extLst>
          </p:cNvPr>
          <p:cNvCxnSpPr>
            <a:cxnSpLocks noChangeShapeType="1"/>
            <a:stCxn id="16388" idx="0"/>
            <a:endCxn id="16389" idx="0"/>
          </p:cNvCxnSpPr>
          <p:nvPr/>
        </p:nvCxnSpPr>
        <p:spPr bwMode="auto">
          <a:xfrm rot="5400000" flipV="1">
            <a:off x="4003675" y="22225"/>
            <a:ext cx="609600" cy="4984750"/>
          </a:xfrm>
          <a:prstGeom prst="curvedConnector3">
            <a:avLst>
              <a:gd name="adj1" fmla="val -3750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3" name="AutoShape 11">
            <a:extLst>
              <a:ext uri="{FF2B5EF4-FFF2-40B4-BE49-F238E27FC236}">
                <a16:creationId xmlns:a16="http://schemas.microsoft.com/office/drawing/2014/main" id="{3FD88193-7C20-6F52-772F-03DD20CFA97F}"/>
              </a:ext>
            </a:extLst>
          </p:cNvPr>
          <p:cNvCxnSpPr>
            <a:cxnSpLocks noChangeShapeType="1"/>
            <a:stCxn id="16389" idx="1"/>
            <a:endCxn id="16388" idx="3"/>
          </p:cNvCxnSpPr>
          <p:nvPr/>
        </p:nvCxnSpPr>
        <p:spPr bwMode="auto">
          <a:xfrm rot="10800000">
            <a:off x="2641600" y="2717800"/>
            <a:ext cx="3289300" cy="72390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4" name="Text Box 12">
            <a:extLst>
              <a:ext uri="{FF2B5EF4-FFF2-40B4-BE49-F238E27FC236}">
                <a16:creationId xmlns:a16="http://schemas.microsoft.com/office/drawing/2014/main" id="{5D7138A9-0FEB-E1C7-5454-5E2C2CEC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8475" y="1454563"/>
            <a:ext cx="2011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3200" dirty="0" err="1"/>
              <a:t>seeEnemy</a:t>
            </a:r>
            <a:endParaRPr lang="en-US" altLang="zh-TW" sz="3200" dirty="0"/>
          </a:p>
        </p:txBody>
      </p:sp>
      <p:sp>
        <p:nvSpPr>
          <p:cNvPr id="16395" name="Text Box 13">
            <a:extLst>
              <a:ext uri="{FF2B5EF4-FFF2-40B4-BE49-F238E27FC236}">
                <a16:creationId xmlns:a16="http://schemas.microsoft.com/office/drawing/2014/main" id="{6E8BE9F8-5524-B669-7F06-B45772DDB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100" y="3219450"/>
            <a:ext cx="784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800"/>
              <a:t>Win</a:t>
            </a:r>
          </a:p>
        </p:txBody>
      </p:sp>
      <p:sp>
        <p:nvSpPr>
          <p:cNvPr id="16396" name="Text Box 15">
            <a:extLst>
              <a:ext uri="{FF2B5EF4-FFF2-40B4-BE49-F238E27FC236}">
                <a16:creationId xmlns:a16="http://schemas.microsoft.com/office/drawing/2014/main" id="{DD8CDB37-E80D-BCBD-4ACA-0EC62E6AFF37}"/>
              </a:ext>
            </a:extLst>
          </p:cNvPr>
          <p:cNvSpPr txBox="1">
            <a:spLocks noChangeArrowheads="1"/>
          </p:cNvSpPr>
          <p:nvPr/>
        </p:nvSpPr>
        <p:spPr bwMode="auto">
          <a:xfrm rot="17650547">
            <a:off x="6323013" y="5040313"/>
            <a:ext cx="1104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3200"/>
              <a:t>Dead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20C56F-524F-D997-E837-ADBD87F18151}"/>
              </a:ext>
            </a:extLst>
          </p:cNvPr>
          <p:cNvSpPr/>
          <p:nvPr/>
        </p:nvSpPr>
        <p:spPr bwMode="auto">
          <a:xfrm>
            <a:off x="228600" y="1524000"/>
            <a:ext cx="8763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B1C151FC-F37F-3C34-FBB0-21384EAB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BAAB84E-712B-4D2B-BF60-1B414526EDE3}" type="slidenum">
              <a:rPr kumimoji="0" lang="zh-TW" altLang="en-US" sz="1400" smtClean="0">
                <a:latin typeface="Times New Roman" panose="02020603050405020304" pitchFamily="18" charset="0"/>
              </a:rPr>
              <a:pPr eaLnBrk="1" hangingPunct="1"/>
              <a:t>38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7802D43E-9B04-B2AE-2A0B-D06310C3C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TW" sz="280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Coding an FSM – Code Example 1</a:t>
            </a:r>
            <a:endParaRPr lang="en-US" altLang="zh-TW" sz="28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40998" name="Text Box 6">
            <a:extLst>
              <a:ext uri="{FF2B5EF4-FFF2-40B4-BE49-F238E27FC236}">
                <a16:creationId xmlns:a16="http://schemas.microsoft.com/office/drawing/2014/main" id="{3B568E38-624A-BD32-B4CC-E00F80884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73906"/>
            <a:ext cx="5099050" cy="53101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lg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void </a:t>
            </a:r>
            <a:r>
              <a:rPr lang="en-US" altLang="zh-TW" sz="1800" b="1" dirty="0" err="1">
                <a:latin typeface="Courier New" pitchFamily="49" charset="0"/>
              </a:rPr>
              <a:t>RunLogic</a:t>
            </a:r>
            <a:r>
              <a:rPr lang="en-US" altLang="zh-TW" sz="1800" b="1" dirty="0">
                <a:latin typeface="Courier New" pitchFamily="49" charset="0"/>
              </a:rPr>
              <a:t>(</a:t>
            </a:r>
            <a:r>
              <a:rPr lang="en-US" altLang="zh-TW" sz="1800" b="1" dirty="0" err="1">
                <a:latin typeface="Courier New" pitchFamily="49" charset="0"/>
              </a:rPr>
              <a:t>int</a:t>
            </a:r>
            <a:r>
              <a:rPr lang="en-US" altLang="zh-TW" sz="1800" b="1" dirty="0">
                <a:latin typeface="Courier New" pitchFamily="49" charset="0"/>
              </a:rPr>
              <a:t> &amp;state)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switch(state)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case </a:t>
            </a:r>
            <a:r>
              <a:rPr lang="en-US" altLang="zh-TW" sz="1800" b="1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r>
              <a:rPr lang="en-US" altLang="zh-TW" sz="1800" b="1" dirty="0">
                <a:latin typeface="Courier New" pitchFamily="49" charset="0"/>
              </a:rPr>
              <a:t>:  </a:t>
            </a:r>
            <a:r>
              <a:rPr lang="en-US" altLang="zh-TW" sz="1800" b="1" dirty="0">
                <a:solidFill>
                  <a:srgbClr val="00FF00"/>
                </a:solidFill>
                <a:latin typeface="Courier New" pitchFamily="49" charset="0"/>
              </a:rPr>
              <a:t>// Wander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Wander();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if (</a:t>
            </a:r>
            <a:r>
              <a:rPr lang="en-US" altLang="zh-TW" sz="1800" b="1" dirty="0" err="1">
                <a:latin typeface="Courier New" pitchFamily="49" charset="0"/>
              </a:rPr>
              <a:t>SeeEnemy</a:t>
            </a:r>
            <a:r>
              <a:rPr lang="en-US" altLang="zh-TW" sz="1800" b="1" dirty="0">
                <a:latin typeface="Courier New" pitchFamily="49" charset="0"/>
              </a:rPr>
              <a:t>()) state = 1;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if (Dead()) state = 2;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break;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case </a:t>
            </a:r>
            <a:r>
              <a:rPr lang="en-US" altLang="zh-TW" sz="1800" b="1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altLang="zh-TW" sz="1800" b="1" dirty="0">
                <a:latin typeface="Courier New" pitchFamily="49" charset="0"/>
              </a:rPr>
              <a:t>:  </a:t>
            </a:r>
            <a:r>
              <a:rPr lang="en-US" altLang="zh-TW" sz="1800" b="1" dirty="0">
                <a:solidFill>
                  <a:srgbClr val="00FF00"/>
                </a:solidFill>
                <a:latin typeface="Courier New" pitchFamily="49" charset="0"/>
              </a:rPr>
              <a:t>// Attack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Attack();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if (Win()) state = 0;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if (Dead()) state = 2;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break;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case </a:t>
            </a:r>
            <a:r>
              <a:rPr lang="en-US" altLang="zh-TW" sz="1800" b="1" dirty="0">
                <a:solidFill>
                  <a:srgbClr val="FF0000"/>
                </a:solidFill>
                <a:latin typeface="Courier New" pitchFamily="49" charset="0"/>
              </a:rPr>
              <a:t>2</a:t>
            </a:r>
            <a:r>
              <a:rPr lang="en-US" altLang="zh-TW" sz="1800" b="1" dirty="0">
                <a:latin typeface="Courier New" pitchFamily="49" charset="0"/>
              </a:rPr>
              <a:t>:  </a:t>
            </a:r>
            <a:r>
              <a:rPr lang="en-US" altLang="zh-TW" sz="1800" b="1" dirty="0">
                <a:solidFill>
                  <a:srgbClr val="00FF00"/>
                </a:solidFill>
                <a:latin typeface="Courier New" pitchFamily="49" charset="0"/>
              </a:rPr>
              <a:t>// Dead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</a:t>
            </a:r>
            <a:r>
              <a:rPr lang="en-US" altLang="zh-TW" sz="1800" b="1" dirty="0" err="1">
                <a:latin typeface="Courier New" pitchFamily="49" charset="0"/>
              </a:rPr>
              <a:t>SlowlyRot</a:t>
            </a:r>
            <a:r>
              <a:rPr lang="en-US" altLang="zh-TW" sz="1800" b="1" dirty="0">
                <a:latin typeface="Courier New" pitchFamily="49" charset="0"/>
              </a:rPr>
              <a:t>();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break;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F924E-CB54-2683-0F50-AED0DDCC5C2B}"/>
              </a:ext>
            </a:extLst>
          </p:cNvPr>
          <p:cNvSpPr/>
          <p:nvPr/>
        </p:nvSpPr>
        <p:spPr bwMode="auto">
          <a:xfrm>
            <a:off x="228600" y="1524000"/>
            <a:ext cx="8763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1A8DCF35-B368-F77F-9C7A-D1C15DFD6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rebuchet MS" panose="020B0603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78B836C-D480-4E72-8975-FBE634F1E0F8}" type="slidenum">
              <a:rPr kumimoji="0" lang="zh-TW" altLang="en-US" sz="1400" smtClean="0">
                <a:latin typeface="Times New Roman" panose="02020603050405020304" pitchFamily="18" charset="0"/>
              </a:rPr>
              <a:pPr eaLnBrk="1" hangingPunct="1"/>
              <a:t>39</a:t>
            </a:fld>
            <a:endParaRPr kumimoji="0" lang="en-US" altLang="zh-TW" sz="1400">
              <a:latin typeface="Times New Roman" panose="02020603050405020304" pitchFamily="18" charset="0"/>
            </a:endParaRPr>
          </a:p>
        </p:txBody>
      </p:sp>
      <p:sp>
        <p:nvSpPr>
          <p:cNvPr id="342018" name="Rectangle 2">
            <a:extLst>
              <a:ext uri="{FF2B5EF4-FFF2-40B4-BE49-F238E27FC236}">
                <a16:creationId xmlns:a16="http://schemas.microsoft.com/office/drawing/2014/main" id="{00AFA66A-3AFC-D0F3-DBD8-2BB6F028A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FF9900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TW" sz="280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Coding an FSM – Code Example 2</a:t>
            </a:r>
            <a:endParaRPr lang="en-US" altLang="zh-TW" sz="28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42019" name="Text Box 3">
            <a:extLst>
              <a:ext uri="{FF2B5EF4-FFF2-40B4-BE49-F238E27FC236}">
                <a16:creationId xmlns:a16="http://schemas.microsoft.com/office/drawing/2014/main" id="{E145CD10-DC58-D664-D1D6-952E46394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552450"/>
            <a:ext cx="8594725" cy="6462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lg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void </a:t>
            </a:r>
            <a:r>
              <a:rPr lang="en-US" altLang="zh-TW" sz="1800" b="1" dirty="0" err="1">
                <a:latin typeface="Courier New" pitchFamily="49" charset="0"/>
              </a:rPr>
              <a:t>RunLogic</a:t>
            </a:r>
            <a:r>
              <a:rPr lang="en-US" altLang="zh-TW" sz="1800" b="1" dirty="0">
                <a:latin typeface="Courier New" pitchFamily="49" charset="0"/>
              </a:rPr>
              <a:t>(FSM *</a:t>
            </a:r>
            <a:r>
              <a:rPr lang="en-US" altLang="zh-TW" sz="1800" b="1" dirty="0" err="1">
                <a:latin typeface="Courier New" pitchFamily="49" charset="0"/>
              </a:rPr>
              <a:t>fsm</a:t>
            </a:r>
            <a:r>
              <a:rPr lang="en-US" altLang="zh-TW" sz="1800" b="1" dirty="0">
                <a:latin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</a:t>
            </a:r>
            <a:r>
              <a:rPr lang="en-US" altLang="zh-TW" sz="1800" b="1" dirty="0">
                <a:solidFill>
                  <a:srgbClr val="00FF00"/>
                </a:solidFill>
                <a:latin typeface="Courier New" pitchFamily="49" charset="0"/>
              </a:rPr>
              <a:t>// Do action based on the state and determine next input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input = STATE_NULL;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switch(</a:t>
            </a:r>
            <a:r>
              <a:rPr lang="en-US" altLang="zh-TW" sz="1800" b="1" dirty="0" err="1">
                <a:latin typeface="Courier New" pitchFamily="49" charset="0"/>
              </a:rPr>
              <a:t>fsm</a:t>
            </a:r>
            <a:r>
              <a:rPr lang="en-US" altLang="zh-TW" sz="1800" b="1" dirty="0">
                <a:latin typeface="Courier New" pitchFamily="49" charset="0"/>
              </a:rPr>
              <a:t>-&gt;</a:t>
            </a:r>
            <a:r>
              <a:rPr lang="en-US" altLang="zh-TW" sz="1800" b="1" dirty="0" err="1">
                <a:latin typeface="Courier New" pitchFamily="49" charset="0"/>
              </a:rPr>
              <a:t>GetStateID</a:t>
            </a:r>
            <a:r>
              <a:rPr lang="en-US" altLang="zh-TW" sz="1800" b="1" dirty="0">
                <a:latin typeface="Courier New" pitchFamily="49" charset="0"/>
              </a:rPr>
              <a:t>())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case STATE_WANDER:  </a:t>
            </a:r>
            <a:r>
              <a:rPr lang="en-US" altLang="zh-TW" sz="1800" b="1" dirty="0">
                <a:solidFill>
                  <a:srgbClr val="00FF00"/>
                </a:solidFill>
                <a:latin typeface="Courier New" pitchFamily="49" charset="0"/>
              </a:rPr>
              <a:t>// Wander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Wander();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if (</a:t>
            </a:r>
            <a:r>
              <a:rPr lang="en-US" altLang="zh-TW" sz="1800" b="1" dirty="0" err="1">
                <a:latin typeface="Courier New" pitchFamily="49" charset="0"/>
              </a:rPr>
              <a:t>SeeEnemy</a:t>
            </a:r>
            <a:r>
              <a:rPr lang="en-US" altLang="zh-TW" sz="1800" b="1" dirty="0">
                <a:latin typeface="Courier New" pitchFamily="49" charset="0"/>
              </a:rPr>
              <a:t>()) input = STATE_SEE_ENEMY;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if (Dead()) input = STATE_DEAD;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break;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case STATE_ATTACK:  </a:t>
            </a:r>
            <a:r>
              <a:rPr lang="en-US" altLang="zh-TW" sz="1800" b="1" dirty="0">
                <a:solidFill>
                  <a:srgbClr val="00FF00"/>
                </a:solidFill>
                <a:latin typeface="Courier New" pitchFamily="49" charset="0"/>
              </a:rPr>
              <a:t>// attack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Attack();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if (Win()) input = STATE_WANDER;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if (Dead()) input = STATE_DEAD;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break;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case STATE_DEAD:  </a:t>
            </a:r>
            <a:r>
              <a:rPr lang="en-US" altLang="zh-TW" sz="1800" b="1" dirty="0">
                <a:solidFill>
                  <a:srgbClr val="00FF00"/>
                </a:solidFill>
                <a:latin typeface="Courier New" pitchFamily="49" charset="0"/>
              </a:rPr>
              <a:t>// Dead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</a:t>
            </a:r>
            <a:r>
              <a:rPr lang="en-US" altLang="zh-TW" sz="1800" b="1" dirty="0" err="1">
                <a:latin typeface="Courier New" pitchFamily="49" charset="0"/>
              </a:rPr>
              <a:t>SlowlyRot</a:t>
            </a:r>
            <a:r>
              <a:rPr lang="en-US" altLang="zh-TW" sz="1800" b="1" dirty="0">
                <a:latin typeface="Courier New" pitchFamily="49" charset="0"/>
              </a:rPr>
              <a:t>();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      break;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} 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</a:t>
            </a:r>
            <a:r>
              <a:rPr lang="en-US" altLang="zh-TW" sz="1800" b="1" dirty="0">
                <a:solidFill>
                  <a:srgbClr val="00FF00"/>
                </a:solidFill>
                <a:latin typeface="Courier New" pitchFamily="49" charset="0"/>
              </a:rPr>
              <a:t>// DO state transition based on computed input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   </a:t>
            </a:r>
            <a:r>
              <a:rPr lang="en-US" altLang="zh-TW" sz="1800" b="1" dirty="0" err="1">
                <a:latin typeface="Courier New" pitchFamily="49" charset="0"/>
              </a:rPr>
              <a:t>fsm</a:t>
            </a:r>
            <a:r>
              <a:rPr lang="en-US" altLang="zh-TW" sz="1800" b="1" dirty="0">
                <a:latin typeface="Courier New" pitchFamily="49" charset="0"/>
              </a:rPr>
              <a:t>-&gt;</a:t>
            </a:r>
            <a:r>
              <a:rPr lang="en-US" altLang="zh-TW" sz="1800" b="1" dirty="0" err="1">
                <a:latin typeface="Courier New" pitchFamily="49" charset="0"/>
              </a:rPr>
              <a:t>StateTransition</a:t>
            </a:r>
            <a:r>
              <a:rPr lang="en-US" altLang="zh-TW" sz="1800" b="1" dirty="0">
                <a:latin typeface="Courier New" pitchFamily="49" charset="0"/>
              </a:rPr>
              <a:t>(input);</a:t>
            </a:r>
          </a:p>
          <a:p>
            <a:pPr>
              <a:defRPr/>
            </a:pPr>
            <a:r>
              <a:rPr lang="en-US" altLang="zh-TW" sz="1800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8229600" cy="838200"/>
          </a:xfrm>
        </p:spPr>
        <p:txBody>
          <a:bodyPr/>
          <a:lstStyle/>
          <a:p>
            <a:pPr eaLnBrk="1" hangingPunct="1"/>
            <a:r>
              <a:rPr lang="en-US" sz="4800" b="1"/>
              <a:t>Nondeterministic FSM</a:t>
            </a:r>
          </a:p>
        </p:txBody>
      </p:sp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F05CF2-F9D1-41F9-BE73-4EE267310B89}" type="slidenum">
              <a:rPr lang="en-US" smtClean="0">
                <a:latin typeface="Arial" panose="020B0604020202020204" pitchFamily="34" charset="0"/>
              </a:rPr>
              <a:pPr/>
              <a:t>40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4953000" y="1889125"/>
            <a:ext cx="3962400" cy="444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6213" indent="-176213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6738" indent="-276225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Char char="•"/>
            </a:pPr>
            <a:r>
              <a:rPr lang="en-US" sz="2200"/>
              <a:t>The Enemy has a certain degree of "virtual freedom," </a:t>
            </a:r>
          </a:p>
          <a:p>
            <a:pPr algn="just">
              <a:buFontTx/>
              <a:buChar char="•"/>
            </a:pPr>
            <a:r>
              <a:rPr lang="en-US" sz="2200"/>
              <a:t>Can choose different action courses </a:t>
            </a:r>
            <a:r>
              <a:rPr lang="en-US" sz="2200" b="1"/>
              <a:t>randomly</a:t>
            </a:r>
            <a:r>
              <a:rPr lang="en-US" sz="2200"/>
              <a:t>. </a:t>
            </a:r>
          </a:p>
          <a:p>
            <a:pPr algn="just">
              <a:buFontTx/>
              <a:buChar char="•"/>
            </a:pPr>
            <a:r>
              <a:rPr lang="en-US" sz="2200"/>
              <a:t>Make his AI less predictable and more engaging. </a:t>
            </a:r>
          </a:p>
          <a:p>
            <a:pPr algn="just">
              <a:buFontTx/>
              <a:buChar char="•"/>
            </a:pPr>
            <a:r>
              <a:rPr lang="en-US" sz="2200"/>
              <a:t>Nondeterminism is especially important for those AI entities that appear in groups.</a:t>
            </a:r>
          </a:p>
          <a:p>
            <a:pPr lvl="1" algn="just">
              <a:buFontTx/>
              <a:buChar char="•"/>
            </a:pPr>
            <a:r>
              <a:rPr lang="en-US" sz="2200"/>
              <a:t>reduce the homogeneous, boring look of the different entity performing the same task.</a:t>
            </a:r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4525963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1813"/>
            <a:ext cx="8229600" cy="1146175"/>
          </a:xfrm>
        </p:spPr>
        <p:txBody>
          <a:bodyPr/>
          <a:lstStyle/>
          <a:p>
            <a:pPr eaLnBrk="1" hangingPunct="1"/>
            <a:r>
              <a:rPr lang="en-US" b="1"/>
              <a:t>Hierarchical FSM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477000" y="5257800"/>
            <a:ext cx="1824038" cy="1274763"/>
          </a:xfrm>
          <a:noFill/>
          <a:ln w="57150" cmpd="thickThin">
            <a:solidFill>
              <a:srgbClr val="FF66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/>
              <a:t>Note: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900"/>
              <a:t>E: see an enemy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900"/>
              <a:t>S: hear a sound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900"/>
              <a:t>D: die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700"/>
          </a:p>
        </p:txBody>
      </p:sp>
      <p:sp>
        <p:nvSpPr>
          <p:cNvPr id="7168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BB0E4F9-7FE2-42D2-81C4-7C6E2254DE13}" type="slidenum">
              <a:rPr lang="en-US" smtClean="0">
                <a:latin typeface="Arial" panose="020B0604020202020204" pitchFamily="34" charset="0"/>
              </a:rPr>
              <a:pPr/>
              <a:t>41</a:t>
            </a:fld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90158" name="Group 46"/>
          <p:cNvGrpSpPr>
            <a:grpSpLocks/>
          </p:cNvGrpSpPr>
          <p:nvPr/>
        </p:nvGrpSpPr>
        <p:grpSpPr bwMode="auto">
          <a:xfrm>
            <a:off x="228600" y="2078038"/>
            <a:ext cx="4800600" cy="4267200"/>
            <a:chOff x="144" y="1309"/>
            <a:chExt cx="3024" cy="2688"/>
          </a:xfrm>
        </p:grpSpPr>
        <p:sp>
          <p:nvSpPr>
            <p:cNvPr id="71731" name="Oval 4"/>
            <p:cNvSpPr>
              <a:spLocks noChangeArrowheads="1"/>
            </p:cNvSpPr>
            <p:nvPr/>
          </p:nvSpPr>
          <p:spPr bwMode="auto">
            <a:xfrm>
              <a:off x="144" y="1309"/>
              <a:ext cx="3024" cy="268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1732" name="Text Box 18"/>
            <p:cNvSpPr txBox="1">
              <a:spLocks noChangeArrowheads="1"/>
            </p:cNvSpPr>
            <p:nvPr/>
          </p:nvSpPr>
          <p:spPr bwMode="auto">
            <a:xfrm>
              <a:off x="1152" y="1405"/>
              <a:ext cx="10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435" tIns="45718" rIns="91435" bIns="4571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000" b="1"/>
                <a:t>Wander</a:t>
              </a:r>
            </a:p>
          </p:txBody>
        </p:sp>
      </p:grpSp>
      <p:sp>
        <p:nvSpPr>
          <p:cNvPr id="90131" name="Oval 19"/>
          <p:cNvSpPr>
            <a:spLocks noChangeArrowheads="1"/>
          </p:cNvSpPr>
          <p:nvPr/>
        </p:nvSpPr>
        <p:spPr bwMode="auto">
          <a:xfrm>
            <a:off x="5616575" y="1795463"/>
            <a:ext cx="990600" cy="990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2000" b="1"/>
              <a:t>Attack</a:t>
            </a:r>
          </a:p>
        </p:txBody>
      </p:sp>
      <p:sp>
        <p:nvSpPr>
          <p:cNvPr id="90132" name="Oval 20"/>
          <p:cNvSpPr>
            <a:spLocks noChangeArrowheads="1"/>
          </p:cNvSpPr>
          <p:nvPr/>
        </p:nvSpPr>
        <p:spPr bwMode="auto">
          <a:xfrm>
            <a:off x="7010400" y="2763838"/>
            <a:ext cx="990600" cy="990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2000" b="1"/>
              <a:t>Chase</a:t>
            </a:r>
          </a:p>
        </p:txBody>
      </p:sp>
      <p:sp>
        <p:nvSpPr>
          <p:cNvPr id="90133" name="Oval 21"/>
          <p:cNvSpPr>
            <a:spLocks noChangeArrowheads="1"/>
          </p:cNvSpPr>
          <p:nvPr/>
        </p:nvSpPr>
        <p:spPr bwMode="auto">
          <a:xfrm>
            <a:off x="8001000" y="4114800"/>
            <a:ext cx="990600" cy="990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2000" b="1"/>
              <a:t>Spawn</a:t>
            </a:r>
          </a:p>
        </p:txBody>
      </p:sp>
      <p:sp>
        <p:nvSpPr>
          <p:cNvPr id="90134" name="Line 22"/>
          <p:cNvSpPr>
            <a:spLocks noChangeShapeType="1"/>
          </p:cNvSpPr>
          <p:nvPr/>
        </p:nvSpPr>
        <p:spPr bwMode="auto">
          <a:xfrm flipH="1">
            <a:off x="4538663" y="2373313"/>
            <a:ext cx="1066800" cy="554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35" name="Line 23"/>
          <p:cNvSpPr>
            <a:spLocks noChangeShapeType="1"/>
          </p:cNvSpPr>
          <p:nvPr/>
        </p:nvSpPr>
        <p:spPr bwMode="auto">
          <a:xfrm flipV="1">
            <a:off x="4778375" y="2655888"/>
            <a:ext cx="990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36" name="Line 24"/>
          <p:cNvSpPr>
            <a:spLocks noChangeShapeType="1"/>
          </p:cNvSpPr>
          <p:nvPr/>
        </p:nvSpPr>
        <p:spPr bwMode="auto">
          <a:xfrm flipH="1">
            <a:off x="4953000" y="3144838"/>
            <a:ext cx="2057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37" name="Line 25"/>
          <p:cNvSpPr>
            <a:spLocks noChangeShapeType="1"/>
          </p:cNvSpPr>
          <p:nvPr/>
        </p:nvSpPr>
        <p:spPr bwMode="auto">
          <a:xfrm flipV="1">
            <a:off x="5029200" y="3505200"/>
            <a:ext cx="2057400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38" name="Line 26"/>
          <p:cNvSpPr>
            <a:spLocks noChangeShapeType="1"/>
          </p:cNvSpPr>
          <p:nvPr/>
        </p:nvSpPr>
        <p:spPr bwMode="auto">
          <a:xfrm>
            <a:off x="5029200" y="4287838"/>
            <a:ext cx="2971800" cy="131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39" name="Line 27"/>
          <p:cNvSpPr>
            <a:spLocks noChangeShapeType="1"/>
          </p:cNvSpPr>
          <p:nvPr/>
        </p:nvSpPr>
        <p:spPr bwMode="auto">
          <a:xfrm flipH="1" flipV="1">
            <a:off x="5029200" y="4592638"/>
            <a:ext cx="2971800" cy="131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40" name="Text Box 28"/>
          <p:cNvSpPr txBox="1">
            <a:spLocks noChangeArrowheads="1"/>
          </p:cNvSpPr>
          <p:nvPr/>
        </p:nvSpPr>
        <p:spPr bwMode="auto">
          <a:xfrm>
            <a:off x="4724400" y="2230438"/>
            <a:ext cx="485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 b="1"/>
              <a:t>~E</a:t>
            </a:r>
          </a:p>
        </p:txBody>
      </p:sp>
      <p:sp>
        <p:nvSpPr>
          <p:cNvPr id="90141" name="Text Box 29"/>
          <p:cNvSpPr txBox="1">
            <a:spLocks noChangeArrowheads="1"/>
          </p:cNvSpPr>
          <p:nvPr/>
        </p:nvSpPr>
        <p:spPr bwMode="auto">
          <a:xfrm>
            <a:off x="5181600" y="2879725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 b="1"/>
              <a:t>E</a:t>
            </a:r>
          </a:p>
        </p:txBody>
      </p:sp>
      <p:sp>
        <p:nvSpPr>
          <p:cNvPr id="90142" name="Text Box 30"/>
          <p:cNvSpPr txBox="1">
            <a:spLocks noChangeArrowheads="1"/>
          </p:cNvSpPr>
          <p:nvPr/>
        </p:nvSpPr>
        <p:spPr bwMode="auto">
          <a:xfrm>
            <a:off x="6248400" y="2879725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 b="1"/>
              <a:t>~S</a:t>
            </a:r>
          </a:p>
        </p:txBody>
      </p:sp>
      <p:sp>
        <p:nvSpPr>
          <p:cNvPr id="90143" name="Text Box 31"/>
          <p:cNvSpPr txBox="1">
            <a:spLocks noChangeArrowheads="1"/>
          </p:cNvSpPr>
          <p:nvPr/>
        </p:nvSpPr>
        <p:spPr bwMode="auto">
          <a:xfrm>
            <a:off x="6553200" y="3565525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 b="1"/>
              <a:t>S</a:t>
            </a:r>
          </a:p>
        </p:txBody>
      </p:sp>
      <p:sp>
        <p:nvSpPr>
          <p:cNvPr id="90144" name="Text Box 32"/>
          <p:cNvSpPr txBox="1">
            <a:spLocks noChangeArrowheads="1"/>
          </p:cNvSpPr>
          <p:nvPr/>
        </p:nvSpPr>
        <p:spPr bwMode="auto">
          <a:xfrm>
            <a:off x="7315200" y="4038600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 b="1"/>
              <a:t>D</a:t>
            </a:r>
          </a:p>
        </p:txBody>
      </p:sp>
      <p:sp>
        <p:nvSpPr>
          <p:cNvPr id="90145" name="Text Box 33"/>
          <p:cNvSpPr txBox="1">
            <a:spLocks noChangeArrowheads="1"/>
          </p:cNvSpPr>
          <p:nvPr/>
        </p:nvSpPr>
        <p:spPr bwMode="auto">
          <a:xfrm>
            <a:off x="7162800" y="4670425"/>
            <a:ext cx="485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 b="1"/>
              <a:t>~E</a:t>
            </a:r>
          </a:p>
        </p:txBody>
      </p:sp>
      <p:grpSp>
        <p:nvGrpSpPr>
          <p:cNvPr id="90157" name="Group 45"/>
          <p:cNvGrpSpPr>
            <a:grpSpLocks/>
          </p:cNvGrpSpPr>
          <p:nvPr/>
        </p:nvGrpSpPr>
        <p:grpSpPr bwMode="auto">
          <a:xfrm>
            <a:off x="838200" y="2840038"/>
            <a:ext cx="3886200" cy="3386137"/>
            <a:chOff x="528" y="1789"/>
            <a:chExt cx="2448" cy="2133"/>
          </a:xfrm>
        </p:grpSpPr>
        <p:sp>
          <p:nvSpPr>
            <p:cNvPr id="71709" name="Oval 5"/>
            <p:cNvSpPr>
              <a:spLocks noChangeArrowheads="1"/>
            </p:cNvSpPr>
            <p:nvPr/>
          </p:nvSpPr>
          <p:spPr bwMode="auto">
            <a:xfrm>
              <a:off x="2352" y="2365"/>
              <a:ext cx="624" cy="624"/>
            </a:xfrm>
            <a:prstGeom prst="ellipse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sz="1600" b="1"/>
                <a:t>Start</a:t>
              </a:r>
            </a:p>
          </p:txBody>
        </p:sp>
        <p:sp>
          <p:nvSpPr>
            <p:cNvPr id="71710" name="Oval 6"/>
            <p:cNvSpPr>
              <a:spLocks noChangeArrowheads="1"/>
            </p:cNvSpPr>
            <p:nvPr/>
          </p:nvSpPr>
          <p:spPr bwMode="auto">
            <a:xfrm>
              <a:off x="528" y="2461"/>
              <a:ext cx="624" cy="624"/>
            </a:xfrm>
            <a:prstGeom prst="ellipse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sz="1600" b="1"/>
                <a:t>Turn </a:t>
              </a:r>
            </a:p>
            <a:p>
              <a:pPr algn="ctr"/>
              <a:r>
                <a:rPr lang="en-US" sz="1600" b="1"/>
                <a:t>Right</a:t>
              </a:r>
            </a:p>
          </p:txBody>
        </p:sp>
        <p:sp>
          <p:nvSpPr>
            <p:cNvPr id="71711" name="Oval 7"/>
            <p:cNvSpPr>
              <a:spLocks noChangeArrowheads="1"/>
            </p:cNvSpPr>
            <p:nvPr/>
          </p:nvSpPr>
          <p:spPr bwMode="auto">
            <a:xfrm>
              <a:off x="1330" y="3250"/>
              <a:ext cx="672" cy="672"/>
            </a:xfrm>
            <a:prstGeom prst="ellipse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sz="1600" b="1"/>
                <a:t>Go-</a:t>
              </a:r>
            </a:p>
            <a:p>
              <a:pPr algn="ctr"/>
              <a:r>
                <a:rPr lang="en-US" sz="1600" b="1"/>
                <a:t>through</a:t>
              </a:r>
            </a:p>
            <a:p>
              <a:pPr algn="ctr"/>
              <a:r>
                <a:rPr lang="en-US" sz="1600" b="1"/>
                <a:t>Door</a:t>
              </a:r>
            </a:p>
          </p:txBody>
        </p:sp>
        <p:sp>
          <p:nvSpPr>
            <p:cNvPr id="71712" name="Oval 8"/>
            <p:cNvSpPr>
              <a:spLocks noChangeArrowheads="1"/>
            </p:cNvSpPr>
            <p:nvPr/>
          </p:nvSpPr>
          <p:spPr bwMode="auto">
            <a:xfrm>
              <a:off x="1296" y="1789"/>
              <a:ext cx="624" cy="624"/>
            </a:xfrm>
            <a:prstGeom prst="ellipse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sz="1600" b="1"/>
                <a:t>Pickup</a:t>
              </a:r>
            </a:p>
            <a:p>
              <a:pPr algn="ctr"/>
              <a:r>
                <a:rPr lang="en-US" sz="1600" b="1"/>
                <a:t>Power Up</a:t>
              </a:r>
            </a:p>
          </p:txBody>
        </p:sp>
        <p:sp>
          <p:nvSpPr>
            <p:cNvPr id="71713" name="Line 9"/>
            <p:cNvSpPr>
              <a:spLocks noChangeShapeType="1"/>
            </p:cNvSpPr>
            <p:nvPr/>
          </p:nvSpPr>
          <p:spPr bwMode="auto">
            <a:xfrm flipH="1">
              <a:off x="1920" y="2941"/>
              <a:ext cx="57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14" name="Line 10"/>
            <p:cNvSpPr>
              <a:spLocks noChangeShapeType="1"/>
            </p:cNvSpPr>
            <p:nvPr/>
          </p:nvSpPr>
          <p:spPr bwMode="auto">
            <a:xfrm flipH="1" flipV="1">
              <a:off x="1920" y="2221"/>
              <a:ext cx="48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15" name="Line 11"/>
            <p:cNvSpPr>
              <a:spLocks noChangeShapeType="1"/>
            </p:cNvSpPr>
            <p:nvPr/>
          </p:nvSpPr>
          <p:spPr bwMode="auto">
            <a:xfrm flipH="1">
              <a:off x="1152" y="2701"/>
              <a:ext cx="120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16" name="Line 12"/>
            <p:cNvSpPr>
              <a:spLocks noChangeShapeType="1"/>
            </p:cNvSpPr>
            <p:nvPr/>
          </p:nvSpPr>
          <p:spPr bwMode="auto">
            <a:xfrm>
              <a:off x="1584" y="2413"/>
              <a:ext cx="0" cy="8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17" name="Line 13"/>
            <p:cNvSpPr>
              <a:spLocks noChangeShapeType="1"/>
            </p:cNvSpPr>
            <p:nvPr/>
          </p:nvSpPr>
          <p:spPr bwMode="auto">
            <a:xfrm flipH="1">
              <a:off x="768" y="2064"/>
              <a:ext cx="528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18" name="Line 14"/>
            <p:cNvSpPr>
              <a:spLocks noChangeShapeType="1"/>
            </p:cNvSpPr>
            <p:nvPr/>
          </p:nvSpPr>
          <p:spPr bwMode="auto">
            <a:xfrm>
              <a:off x="912" y="3072"/>
              <a:ext cx="43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19" name="Line 15"/>
            <p:cNvSpPr>
              <a:spLocks noChangeShapeType="1"/>
            </p:cNvSpPr>
            <p:nvPr/>
          </p:nvSpPr>
          <p:spPr bwMode="auto">
            <a:xfrm flipV="1">
              <a:off x="946" y="2208"/>
              <a:ext cx="350" cy="2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20" name="Line 16"/>
            <p:cNvSpPr>
              <a:spLocks noChangeShapeType="1"/>
            </p:cNvSpPr>
            <p:nvPr/>
          </p:nvSpPr>
          <p:spPr bwMode="auto">
            <a:xfrm flipH="1" flipV="1">
              <a:off x="1008" y="3024"/>
              <a:ext cx="3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21" name="Line 17"/>
            <p:cNvSpPr>
              <a:spLocks noChangeShapeType="1"/>
            </p:cNvSpPr>
            <p:nvPr/>
          </p:nvSpPr>
          <p:spPr bwMode="auto">
            <a:xfrm flipH="1" flipV="1">
              <a:off x="1728" y="2400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22" name="Text Box 35"/>
            <p:cNvSpPr txBox="1">
              <a:spLocks noChangeArrowheads="1"/>
            </p:cNvSpPr>
            <p:nvPr/>
          </p:nvSpPr>
          <p:spPr bwMode="auto">
            <a:xfrm>
              <a:off x="2124" y="2184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600"/>
                <a:t>SP</a:t>
              </a:r>
            </a:p>
          </p:txBody>
        </p:sp>
        <p:sp>
          <p:nvSpPr>
            <p:cNvPr id="71723" name="Text Box 36"/>
            <p:cNvSpPr txBox="1">
              <a:spLocks noChangeArrowheads="1"/>
            </p:cNvSpPr>
            <p:nvPr/>
          </p:nvSpPr>
          <p:spPr bwMode="auto">
            <a:xfrm>
              <a:off x="2004" y="2525"/>
              <a:ext cx="27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600"/>
                <a:t>SN</a:t>
              </a:r>
            </a:p>
          </p:txBody>
        </p:sp>
        <p:sp>
          <p:nvSpPr>
            <p:cNvPr id="71724" name="Text Box 37"/>
            <p:cNvSpPr txBox="1">
              <a:spLocks noChangeArrowheads="1"/>
            </p:cNvSpPr>
            <p:nvPr/>
          </p:nvSpPr>
          <p:spPr bwMode="auto">
            <a:xfrm>
              <a:off x="2292" y="3048"/>
              <a:ext cx="27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600"/>
                <a:t>DF</a:t>
              </a:r>
            </a:p>
          </p:txBody>
        </p:sp>
        <p:sp>
          <p:nvSpPr>
            <p:cNvPr id="71725" name="Text Box 38"/>
            <p:cNvSpPr txBox="1">
              <a:spLocks noChangeArrowheads="1"/>
            </p:cNvSpPr>
            <p:nvPr/>
          </p:nvSpPr>
          <p:spPr bwMode="auto">
            <a:xfrm>
              <a:off x="1692" y="294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600"/>
                <a:t>SP</a:t>
              </a:r>
            </a:p>
          </p:txBody>
        </p:sp>
        <p:sp>
          <p:nvSpPr>
            <p:cNvPr id="71726" name="Text Box 39"/>
            <p:cNvSpPr txBox="1">
              <a:spLocks noChangeArrowheads="1"/>
            </p:cNvSpPr>
            <p:nvPr/>
          </p:nvSpPr>
          <p:spPr bwMode="auto">
            <a:xfrm>
              <a:off x="1344" y="2448"/>
              <a:ext cx="27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600"/>
                <a:t>DF</a:t>
              </a:r>
            </a:p>
          </p:txBody>
        </p:sp>
        <p:sp>
          <p:nvSpPr>
            <p:cNvPr id="71727" name="Text Box 40"/>
            <p:cNvSpPr txBox="1">
              <a:spLocks noChangeArrowheads="1"/>
            </p:cNvSpPr>
            <p:nvPr/>
          </p:nvSpPr>
          <p:spPr bwMode="auto">
            <a:xfrm>
              <a:off x="852" y="3240"/>
              <a:ext cx="27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600"/>
                <a:t>DF</a:t>
              </a:r>
            </a:p>
          </p:txBody>
        </p:sp>
        <p:sp>
          <p:nvSpPr>
            <p:cNvPr id="71728" name="Text Box 41"/>
            <p:cNvSpPr txBox="1">
              <a:spLocks noChangeArrowheads="1"/>
            </p:cNvSpPr>
            <p:nvPr/>
          </p:nvSpPr>
          <p:spPr bwMode="auto">
            <a:xfrm>
              <a:off x="912" y="1996"/>
              <a:ext cx="27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600"/>
                <a:t>SN</a:t>
              </a:r>
            </a:p>
          </p:txBody>
        </p:sp>
        <p:sp>
          <p:nvSpPr>
            <p:cNvPr id="71729" name="Text Box 42"/>
            <p:cNvSpPr txBox="1">
              <a:spLocks noChangeArrowheads="1"/>
            </p:cNvSpPr>
            <p:nvPr/>
          </p:nvSpPr>
          <p:spPr bwMode="auto">
            <a:xfrm>
              <a:off x="1161" y="3004"/>
              <a:ext cx="27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600"/>
                <a:t>SN</a:t>
              </a:r>
            </a:p>
          </p:txBody>
        </p:sp>
        <p:sp>
          <p:nvSpPr>
            <p:cNvPr id="71730" name="Text Box 43"/>
            <p:cNvSpPr txBox="1">
              <a:spLocks noChangeArrowheads="1"/>
            </p:cNvSpPr>
            <p:nvPr/>
          </p:nvSpPr>
          <p:spPr bwMode="auto">
            <a:xfrm>
              <a:off x="1077" y="2284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sz="1600"/>
                <a:t>SP</a:t>
              </a:r>
            </a:p>
          </p:txBody>
        </p:sp>
      </p:grpSp>
      <p:sp>
        <p:nvSpPr>
          <p:cNvPr id="90156" name="Rectangle 44"/>
          <p:cNvSpPr>
            <a:spLocks noChangeArrowheads="1"/>
          </p:cNvSpPr>
          <p:nvPr/>
        </p:nvSpPr>
        <p:spPr bwMode="auto">
          <a:xfrm>
            <a:off x="3962400" y="5257800"/>
            <a:ext cx="2362200" cy="1274763"/>
          </a:xfrm>
          <a:prstGeom prst="rect">
            <a:avLst/>
          </a:prstGeom>
          <a:noFill/>
          <a:ln w="57150" cmpd="thickThin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7950" indent="-468313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7213" indent="-4381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97113" indent="-468313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54313" indent="-468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11513" indent="-468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68713" indent="-468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25913" indent="-468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/>
              <a:t>Note: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900"/>
              <a:t>SN: see nothing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900"/>
              <a:t>SP: see power up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900"/>
              <a:t>DF: door in the front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700"/>
          </a:p>
        </p:txBody>
      </p:sp>
      <p:sp>
        <p:nvSpPr>
          <p:cNvPr id="90159" name="Line 47"/>
          <p:cNvSpPr>
            <a:spLocks noChangeShapeType="1"/>
          </p:cNvSpPr>
          <p:nvPr/>
        </p:nvSpPr>
        <p:spPr bwMode="auto">
          <a:xfrm flipH="1" flipV="1">
            <a:off x="7848600" y="36576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60" name="Text Box 48"/>
          <p:cNvSpPr txBox="1">
            <a:spLocks noChangeArrowheads="1"/>
          </p:cNvSpPr>
          <p:nvPr/>
        </p:nvSpPr>
        <p:spPr bwMode="auto">
          <a:xfrm>
            <a:off x="7991475" y="3581400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 b="1"/>
              <a:t>S</a:t>
            </a:r>
          </a:p>
        </p:txBody>
      </p:sp>
      <p:sp>
        <p:nvSpPr>
          <p:cNvPr id="90161" name="Freeform 49"/>
          <p:cNvSpPr>
            <a:spLocks/>
          </p:cNvSpPr>
          <p:nvPr/>
        </p:nvSpPr>
        <p:spPr bwMode="auto">
          <a:xfrm>
            <a:off x="6629400" y="2362200"/>
            <a:ext cx="1752600" cy="1752600"/>
          </a:xfrm>
          <a:custGeom>
            <a:avLst/>
            <a:gdLst>
              <a:gd name="T0" fmla="*/ 2147483646 w 1200"/>
              <a:gd name="T1" fmla="*/ 2147483646 h 1152"/>
              <a:gd name="T2" fmla="*/ 2047737840 w 1200"/>
              <a:gd name="T3" fmla="*/ 555484440 h 1152"/>
              <a:gd name="T4" fmla="*/ 0 w 1200"/>
              <a:gd name="T5" fmla="*/ 0 h 11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00" h="1152">
                <a:moveTo>
                  <a:pt x="1200" y="1152"/>
                </a:moveTo>
                <a:cubicBezTo>
                  <a:pt x="1180" y="792"/>
                  <a:pt x="1160" y="432"/>
                  <a:pt x="960" y="240"/>
                </a:cubicBezTo>
                <a:cubicBezTo>
                  <a:pt x="760" y="48"/>
                  <a:pt x="380" y="2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62" name="Text Box 50"/>
          <p:cNvSpPr txBox="1">
            <a:spLocks noChangeArrowheads="1"/>
          </p:cNvSpPr>
          <p:nvPr/>
        </p:nvSpPr>
        <p:spPr bwMode="auto">
          <a:xfrm>
            <a:off x="8278813" y="3184525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 b="1"/>
              <a:t>E</a:t>
            </a:r>
          </a:p>
        </p:txBody>
      </p:sp>
      <p:sp>
        <p:nvSpPr>
          <p:cNvPr id="90163" name="Freeform 51"/>
          <p:cNvSpPr>
            <a:spLocks/>
          </p:cNvSpPr>
          <p:nvPr/>
        </p:nvSpPr>
        <p:spPr bwMode="auto">
          <a:xfrm>
            <a:off x="6553200" y="1930400"/>
            <a:ext cx="2260600" cy="2184400"/>
          </a:xfrm>
          <a:custGeom>
            <a:avLst/>
            <a:gdLst>
              <a:gd name="T0" fmla="*/ 0 w 1424"/>
              <a:gd name="T1" fmla="*/ 80645000 h 1376"/>
              <a:gd name="T2" fmla="*/ 2147483646 w 1424"/>
              <a:gd name="T3" fmla="*/ 564515000 h 1376"/>
              <a:gd name="T4" fmla="*/ 2147483646 w 1424"/>
              <a:gd name="T5" fmla="*/ 2147483646 h 137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24" h="1376">
                <a:moveTo>
                  <a:pt x="0" y="32"/>
                </a:moveTo>
                <a:cubicBezTo>
                  <a:pt x="488" y="16"/>
                  <a:pt x="976" y="0"/>
                  <a:pt x="1200" y="224"/>
                </a:cubicBezTo>
                <a:cubicBezTo>
                  <a:pt x="1424" y="448"/>
                  <a:pt x="1384" y="912"/>
                  <a:pt x="1344" y="137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64" name="Text Box 52"/>
          <p:cNvSpPr txBox="1">
            <a:spLocks noChangeArrowheads="1"/>
          </p:cNvSpPr>
          <p:nvPr/>
        </p:nvSpPr>
        <p:spPr bwMode="auto">
          <a:xfrm>
            <a:off x="8382000" y="1905000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000" b="1"/>
              <a:t>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0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0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01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0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0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0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0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0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0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0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0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0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0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0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9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9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9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9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0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0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90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000"/>
                                        <p:tgtEl>
                                          <p:spTgt spid="9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90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9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1000"/>
                                        <p:tgtEl>
                                          <p:spTgt spid="9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0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1000"/>
                                        <p:tgtEl>
                                          <p:spTgt spid="90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901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 animBg="1"/>
      <p:bldP spid="90131" grpId="0" animBg="1"/>
      <p:bldP spid="90132" grpId="0" animBg="1"/>
      <p:bldP spid="90133" grpId="0" animBg="1"/>
      <p:bldP spid="90134" grpId="0" animBg="1"/>
      <p:bldP spid="90135" grpId="0" animBg="1"/>
      <p:bldP spid="90136" grpId="0" animBg="1"/>
      <p:bldP spid="90137" grpId="0" animBg="1"/>
      <p:bldP spid="90138" grpId="0" animBg="1"/>
      <p:bldP spid="90139" grpId="0" animBg="1"/>
      <p:bldP spid="90140" grpId="0"/>
      <p:bldP spid="90141" grpId="0"/>
      <p:bldP spid="90142" grpId="0"/>
      <p:bldP spid="90143" grpId="0"/>
      <p:bldP spid="90144" grpId="0"/>
      <p:bldP spid="90145" grpId="0"/>
      <p:bldP spid="90156" grpId="0" animBg="1"/>
      <p:bldP spid="90156" grpId="1" animBg="1"/>
      <p:bldP spid="90159" grpId="0" animBg="1"/>
      <p:bldP spid="90160" grpId="0"/>
      <p:bldP spid="90161" grpId="0" animBg="1"/>
      <p:bldP spid="90162" grpId="0"/>
      <p:bldP spid="90163" grpId="0" animBg="1"/>
      <p:bldP spid="9016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8600" y="533400"/>
            <a:ext cx="6172200" cy="1241205"/>
          </a:xfrm>
          <a:prstGeom prst="rect">
            <a:avLst/>
          </a:prstGeom>
        </p:spPr>
        <p:txBody>
          <a:bodyPr vert="horz" wrap="square" lIns="0" tIns="10001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658654">
              <a:spcBef>
                <a:spcPts val="79"/>
              </a:spcBef>
            </a:pPr>
            <a:r>
              <a:rPr sz="4000" spc="-8" dirty="0"/>
              <a:t>Hierarchical</a:t>
            </a:r>
            <a:r>
              <a:rPr sz="4000" spc="-120" dirty="0"/>
              <a:t> </a:t>
            </a:r>
            <a:r>
              <a:rPr sz="4000" dirty="0"/>
              <a:t>FSM</a:t>
            </a:r>
            <a:r>
              <a:rPr sz="4000" spc="-105" dirty="0"/>
              <a:t> </a:t>
            </a:r>
            <a:r>
              <a:rPr sz="4000" spc="-8" dirty="0"/>
              <a:t>Example</a:t>
            </a:r>
          </a:p>
        </p:txBody>
      </p:sp>
      <p:pic>
        <p:nvPicPr>
          <p:cNvPr id="5" name="object 5" descr="page22image394684388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1" y="13548"/>
            <a:ext cx="4114800" cy="3507748"/>
          </a:xfrm>
          <a:prstGeom prst="rect">
            <a:avLst/>
          </a:prstGeom>
        </p:spPr>
      </p:pic>
      <p:pic>
        <p:nvPicPr>
          <p:cNvPr id="2" name="object 2" descr="page23image428050356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4581" y="3521296"/>
            <a:ext cx="5272437" cy="3124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142" y="1851288"/>
            <a:ext cx="3968681" cy="3340016"/>
          </a:xfrm>
          <a:prstGeom prst="rect">
            <a:avLst/>
          </a:prstGeom>
        </p:spPr>
        <p:txBody>
          <a:bodyPr vert="horz" wrap="square" lIns="0" tIns="43814" rIns="0" bIns="0" rtlCol="0">
            <a:spAutoFit/>
          </a:bodyPr>
          <a:lstStyle/>
          <a:p>
            <a:pPr marL="266700" marR="489109" indent="-257651" algn="just">
              <a:lnSpc>
                <a:spcPts val="2190"/>
              </a:lnSpc>
              <a:spcBef>
                <a:spcPts val="344"/>
              </a:spcBef>
              <a:buFont typeface="Arial MT"/>
              <a:buChar char="•"/>
              <a:tabLst>
                <a:tab pos="266700" algn="l"/>
              </a:tabLst>
            </a:pPr>
            <a:r>
              <a:rPr sz="2000" dirty="0">
                <a:latin typeface="Calibri"/>
                <a:cs typeface="Calibri"/>
              </a:rPr>
              <a:t>Equivalent</a:t>
            </a:r>
            <a:r>
              <a:rPr sz="2000" spc="-8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regular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8" dirty="0">
                <a:latin typeface="Calibri"/>
                <a:cs typeface="Calibri"/>
              </a:rPr>
              <a:t>FSMs, </a:t>
            </a:r>
            <a:r>
              <a:rPr sz="2000" dirty="0">
                <a:latin typeface="Calibri"/>
                <a:cs typeface="Calibri"/>
              </a:rPr>
              <a:t>adding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8" dirty="0">
                <a:latin typeface="Calibri"/>
                <a:cs typeface="Calibri"/>
              </a:rPr>
              <a:t>recursive</a:t>
            </a:r>
            <a:r>
              <a:rPr sz="2000" spc="-23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multi-</a:t>
            </a:r>
            <a:r>
              <a:rPr sz="2000" spc="-8" dirty="0">
                <a:latin typeface="Calibri"/>
                <a:cs typeface="Calibri"/>
              </a:rPr>
              <a:t>level evaluation</a:t>
            </a:r>
            <a:endParaRPr sz="2000" dirty="0">
              <a:latin typeface="Calibri"/>
              <a:cs typeface="Calibri"/>
            </a:endParaRPr>
          </a:p>
          <a:p>
            <a:pPr marL="266700" marR="1206818" indent="-257651">
              <a:lnSpc>
                <a:spcPts val="2190"/>
              </a:lnSpc>
              <a:spcBef>
                <a:spcPts val="480"/>
              </a:spcBef>
              <a:buFont typeface="Arial MT"/>
              <a:buChar char="•"/>
              <a:tabLst>
                <a:tab pos="266700" algn="l"/>
              </a:tabLst>
            </a:pPr>
            <a:r>
              <a:rPr sz="2000" dirty="0">
                <a:latin typeface="Calibri"/>
                <a:cs typeface="Calibri"/>
              </a:rPr>
              <a:t>Easier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think</a:t>
            </a:r>
            <a:r>
              <a:rPr sz="2000" spc="-34" dirty="0">
                <a:latin typeface="Calibri"/>
                <a:cs typeface="Calibri"/>
              </a:rPr>
              <a:t> </a:t>
            </a:r>
            <a:r>
              <a:rPr sz="2000" spc="-8" dirty="0">
                <a:latin typeface="Calibri"/>
                <a:cs typeface="Calibri"/>
              </a:rPr>
              <a:t>about encapsulation</a:t>
            </a:r>
            <a:endParaRPr sz="2000" dirty="0">
              <a:latin typeface="Calibri"/>
              <a:cs typeface="Calibri"/>
            </a:endParaRPr>
          </a:p>
          <a:p>
            <a:pPr marL="266700" marR="3810" indent="-257651">
              <a:lnSpc>
                <a:spcPts val="2190"/>
              </a:lnSpc>
              <a:spcBef>
                <a:spcPts val="480"/>
              </a:spcBef>
              <a:buFont typeface="Arial MT"/>
              <a:buChar char="•"/>
              <a:tabLst>
                <a:tab pos="266700" algn="l"/>
              </a:tabLst>
            </a:pPr>
            <a:r>
              <a:rPr sz="2000" dirty="0">
                <a:latin typeface="Calibri"/>
                <a:cs typeface="Calibri"/>
              </a:rPr>
              <a:t>Hierarchical</a:t>
            </a:r>
            <a:r>
              <a:rPr sz="2000" spc="-9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approach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8" dirty="0">
                <a:latin typeface="Calibri"/>
                <a:cs typeface="Calibri"/>
              </a:rPr>
              <a:t>addresses </a:t>
            </a:r>
            <a:r>
              <a:rPr sz="2000" i="1" spc="-15" dirty="0">
                <a:latin typeface="Calibri"/>
                <a:cs typeface="Calibri"/>
              </a:rPr>
              <a:t>entry,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update,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exit</a:t>
            </a:r>
            <a:r>
              <a:rPr sz="2000" i="1" spc="-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i="1" spc="-19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(wildcard)</a:t>
            </a:r>
            <a:r>
              <a:rPr sz="2000" spc="-5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23" dirty="0">
                <a:latin typeface="Calibri"/>
                <a:cs typeface="Calibri"/>
              </a:rPr>
              <a:t> </a:t>
            </a:r>
            <a:r>
              <a:rPr sz="2000" spc="-8" dirty="0">
                <a:latin typeface="Calibri"/>
                <a:cs typeface="Calibri"/>
              </a:rPr>
              <a:t>levels</a:t>
            </a:r>
            <a:endParaRPr sz="2000" dirty="0">
              <a:latin typeface="Calibri"/>
              <a:cs typeface="Calibri"/>
            </a:endParaRPr>
          </a:p>
          <a:p>
            <a:pPr marL="266700" marR="132874" indent="-257651">
              <a:lnSpc>
                <a:spcPts val="2190"/>
              </a:lnSpc>
              <a:spcBef>
                <a:spcPts val="480"/>
              </a:spcBef>
              <a:buFont typeface="Arial MT"/>
              <a:buChar char="•"/>
              <a:tabLst>
                <a:tab pos="266700" algn="l"/>
              </a:tabLst>
            </a:pPr>
            <a:r>
              <a:rPr sz="2000" dirty="0">
                <a:latin typeface="Calibri"/>
                <a:cs typeface="Calibri"/>
              </a:rPr>
              <a:t>But</a:t>
            </a:r>
            <a:r>
              <a:rPr sz="2000" spc="-2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2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19" dirty="0">
                <a:latin typeface="Calibri"/>
                <a:cs typeface="Calibri"/>
              </a:rPr>
              <a:t> </a:t>
            </a:r>
            <a:r>
              <a:rPr lang="en-US" sz="2000" spc="-8" dirty="0">
                <a:latin typeface="Calibri"/>
                <a:cs typeface="Calibri"/>
              </a:rPr>
              <a:t>the transition from a lower-level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8" dirty="0">
                <a:latin typeface="Calibri"/>
                <a:cs typeface="Calibri"/>
              </a:rPr>
              <a:t>state?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762000"/>
            <a:ext cx="5164740" cy="932467"/>
          </a:xfrm>
          <a:prstGeom prst="rect">
            <a:avLst/>
          </a:prstGeom>
        </p:spPr>
        <p:txBody>
          <a:bodyPr vert="horz" wrap="square" lIns="0" tIns="9049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0966">
              <a:spcBef>
                <a:spcPts val="71"/>
              </a:spcBef>
            </a:pPr>
            <a:r>
              <a:rPr sz="3000" spc="-8" dirty="0"/>
              <a:t>Hierarchical</a:t>
            </a:r>
            <a:r>
              <a:rPr sz="3000" spc="-116" dirty="0"/>
              <a:t> </a:t>
            </a:r>
            <a:r>
              <a:rPr sz="3000" dirty="0"/>
              <a:t>FSMs</a:t>
            </a:r>
            <a:r>
              <a:rPr sz="3000" spc="-116" dirty="0"/>
              <a:t> </a:t>
            </a:r>
            <a:r>
              <a:rPr sz="3000" spc="-19" dirty="0"/>
              <a:t>in</a:t>
            </a:r>
            <a:endParaRPr sz="3000" dirty="0"/>
          </a:p>
          <a:p>
            <a:pPr marL="9525"/>
            <a:r>
              <a:rPr sz="3000" i="1" dirty="0">
                <a:latin typeface="Calibri"/>
                <a:cs typeface="Calibri"/>
              </a:rPr>
              <a:t>Destroy</a:t>
            </a:r>
            <a:r>
              <a:rPr sz="3000" i="1" spc="-10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All</a:t>
            </a:r>
            <a:r>
              <a:rPr sz="3000" i="1" spc="-116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Humans</a:t>
            </a:r>
            <a:r>
              <a:rPr sz="3000" i="1" spc="-83" dirty="0">
                <a:latin typeface="Calibri"/>
                <a:cs typeface="Calibri"/>
              </a:rPr>
              <a:t> </a:t>
            </a:r>
            <a:r>
              <a:rPr sz="3000" i="1" spc="-38" dirty="0">
                <a:latin typeface="Calibri"/>
                <a:cs typeface="Calibri"/>
              </a:rPr>
              <a:t>2</a:t>
            </a:r>
            <a:endParaRPr sz="3000" dirty="0">
              <a:latin typeface="Calibri"/>
              <a:cs typeface="Calibri"/>
            </a:endParaRPr>
          </a:p>
        </p:txBody>
      </p:sp>
      <p:pic>
        <p:nvPicPr>
          <p:cNvPr id="3" name="object 3" descr="http://www.gamasutra.com/db_area/images/feature/1862/humans2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645" y="1956371"/>
            <a:ext cx="6432709" cy="4495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40942" y="6477000"/>
            <a:ext cx="643270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u="sng" spc="-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http://www.gamasutra.com/view/feature/130279/creating_all_humans_a_datadriven_.php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0600" y="762000"/>
            <a:ext cx="4631340" cy="932467"/>
          </a:xfrm>
          <a:prstGeom prst="rect">
            <a:avLst/>
          </a:prstGeom>
        </p:spPr>
        <p:txBody>
          <a:bodyPr vert="horz" wrap="square" lIns="0" tIns="9049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0966">
              <a:spcBef>
                <a:spcPts val="71"/>
              </a:spcBef>
            </a:pPr>
            <a:r>
              <a:rPr sz="3000" spc="-8" dirty="0"/>
              <a:t>Hierarchical</a:t>
            </a:r>
            <a:r>
              <a:rPr sz="3000" spc="-116" dirty="0"/>
              <a:t> </a:t>
            </a:r>
            <a:r>
              <a:rPr sz="3000" dirty="0"/>
              <a:t>FSMs</a:t>
            </a:r>
            <a:r>
              <a:rPr sz="3000" spc="-116" dirty="0"/>
              <a:t> </a:t>
            </a:r>
            <a:r>
              <a:rPr sz="3000" spc="-19" dirty="0"/>
              <a:t>in</a:t>
            </a:r>
            <a:endParaRPr sz="3000" dirty="0"/>
          </a:p>
          <a:p>
            <a:pPr marL="9525"/>
            <a:r>
              <a:rPr sz="3000" i="1" dirty="0">
                <a:latin typeface="Calibri"/>
                <a:cs typeface="Calibri"/>
              </a:rPr>
              <a:t>Destroy</a:t>
            </a:r>
            <a:r>
              <a:rPr sz="3000" i="1" spc="-10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All</a:t>
            </a:r>
            <a:r>
              <a:rPr sz="3000" i="1" spc="-116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Humans</a:t>
            </a:r>
            <a:r>
              <a:rPr sz="3000" i="1" spc="-83" dirty="0">
                <a:latin typeface="Calibri"/>
                <a:cs typeface="Calibri"/>
              </a:rPr>
              <a:t> </a:t>
            </a:r>
            <a:r>
              <a:rPr sz="3000" i="1" spc="-38" dirty="0">
                <a:latin typeface="Calibri"/>
                <a:cs typeface="Calibri"/>
              </a:rPr>
              <a:t>2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2286000"/>
            <a:ext cx="3628740" cy="3946562"/>
          </a:xfrm>
          <a:prstGeom prst="rect">
            <a:avLst/>
          </a:prstGeom>
        </p:spPr>
        <p:txBody>
          <a:bodyPr vert="horz" wrap="square" lIns="0" tIns="111919" rIns="0" bIns="0" rtlCol="0">
            <a:spAutoFit/>
          </a:bodyPr>
          <a:lstStyle/>
          <a:p>
            <a:pPr marL="107633" indent="-98108">
              <a:spcBef>
                <a:spcPts val="881"/>
              </a:spcBef>
              <a:buFont typeface="Arial MT"/>
              <a:buChar char="•"/>
              <a:tabLst>
                <a:tab pos="107633" algn="l"/>
              </a:tabLst>
            </a:pPr>
            <a:r>
              <a:rPr sz="2400" dirty="0">
                <a:latin typeface="Calibri"/>
                <a:cs typeface="Calibri"/>
              </a:rPr>
              <a:t>Active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(blue),</a:t>
            </a:r>
            <a:r>
              <a:rPr sz="2400" spc="-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pending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(orange)</a:t>
            </a:r>
            <a:endParaRPr sz="2400" dirty="0">
              <a:latin typeface="Calibri"/>
              <a:cs typeface="Calibri"/>
            </a:endParaRPr>
          </a:p>
          <a:p>
            <a:pPr marL="107633" indent="-98108">
              <a:spcBef>
                <a:spcPts val="810"/>
              </a:spcBef>
              <a:buFont typeface="Arial MT"/>
              <a:buChar char="•"/>
              <a:tabLst>
                <a:tab pos="107633" algn="l"/>
              </a:tabLst>
            </a:pPr>
            <a:r>
              <a:rPr sz="2400" dirty="0">
                <a:latin typeface="Calibri"/>
                <a:cs typeface="Calibri"/>
              </a:rPr>
              <a:t>Only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active</a:t>
            </a:r>
            <a:r>
              <a:rPr sz="2400" spc="-23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behaviors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update</a:t>
            </a:r>
            <a:endParaRPr sz="2400" dirty="0">
              <a:latin typeface="Calibri"/>
              <a:cs typeface="Calibri"/>
            </a:endParaRPr>
          </a:p>
          <a:p>
            <a:pPr marL="107633" indent="-98108">
              <a:spcBef>
                <a:spcPts val="810"/>
              </a:spcBef>
              <a:buFont typeface="Arial MT"/>
              <a:buChar char="•"/>
              <a:tabLst>
                <a:tab pos="107633" algn="l"/>
              </a:tabLst>
            </a:pPr>
            <a:r>
              <a:rPr sz="2400" dirty="0">
                <a:latin typeface="Calibri"/>
                <a:cs typeface="Calibri"/>
              </a:rPr>
              <a:t>Only</a:t>
            </a:r>
            <a:r>
              <a:rPr sz="2400" spc="-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active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behaviors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children</a:t>
            </a:r>
            <a:endParaRPr sz="2400" dirty="0">
              <a:latin typeface="Calibri"/>
              <a:cs typeface="Calibri"/>
            </a:endParaRPr>
          </a:p>
          <a:p>
            <a:pPr marL="107633" indent="-98108">
              <a:spcBef>
                <a:spcPts val="810"/>
              </a:spcBef>
              <a:buFont typeface="Arial MT"/>
              <a:buChar char="•"/>
              <a:tabLst>
                <a:tab pos="107633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*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startable,</a:t>
            </a:r>
            <a:r>
              <a:rPr sz="2400" spc="-19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rank</a:t>
            </a:r>
            <a:endParaRPr sz="2400" dirty="0">
              <a:latin typeface="Calibri"/>
              <a:cs typeface="Calibri"/>
            </a:endParaRPr>
          </a:p>
          <a:p>
            <a:pPr marL="9525" marR="426720" indent="98108">
              <a:lnSpc>
                <a:spcPts val="2430"/>
              </a:lnSpc>
              <a:spcBef>
                <a:spcPts val="79"/>
              </a:spcBef>
              <a:buFont typeface="Arial MT"/>
              <a:buChar char="•"/>
              <a:tabLst>
                <a:tab pos="107633" algn="l"/>
              </a:tabLst>
            </a:pPr>
            <a:r>
              <a:rPr sz="2400" dirty="0">
                <a:latin typeface="Calibri"/>
                <a:cs typeface="Calibri"/>
              </a:rPr>
              <a:t>States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marked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non-</a:t>
            </a:r>
            <a:r>
              <a:rPr sz="2400" spc="-8" dirty="0">
                <a:latin typeface="Calibri"/>
                <a:cs typeface="Calibri"/>
              </a:rPr>
              <a:t>interruptable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8" dirty="0">
                <a:latin typeface="Calibri"/>
                <a:cs typeface="Calibri"/>
              </a:rPr>
              <a:t>non-blocking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" name="object 3" descr="http://www.gamasutra.com/db_area/images/feature/1862/humans_fig1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5387" y="1981200"/>
            <a:ext cx="4871413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F8C2BDC-63DB-0E23-6FBE-E3A5C9A05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Non-Deterministic Hierarchical FSM </a:t>
            </a:r>
            <a:br>
              <a:rPr lang="en-US" altLang="en-US" sz="3200" dirty="0"/>
            </a:br>
            <a:endParaRPr lang="en-US" altLang="en-US" sz="3200" dirty="0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6584E44-4157-D7BA-6D30-D8E30B42B4D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105400" y="1981200"/>
            <a:ext cx="38862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Adds variety to actions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Have multiple transitions for the same event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Label each with a probability that it will be taken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Randomly choose a transition at run-time</a:t>
            </a:r>
          </a:p>
        </p:txBody>
      </p:sp>
      <p:sp>
        <p:nvSpPr>
          <p:cNvPr id="48132" name="Oval 4">
            <a:extLst>
              <a:ext uri="{FF2B5EF4-FFF2-40B4-BE49-F238E27FC236}">
                <a16:creationId xmlns:a16="http://schemas.microsoft.com/office/drawing/2014/main" id="{37B7CFDB-DAB3-852E-39F1-BEA38B26A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52600"/>
            <a:ext cx="4876800" cy="472440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48133" name="Text Box 5">
            <a:extLst>
              <a:ext uri="{FF2B5EF4-FFF2-40B4-BE49-F238E27FC236}">
                <a16:creationId xmlns:a16="http://schemas.microsoft.com/office/drawing/2014/main" id="{3B394BD0-BB35-9A31-CA6D-F7BF4B303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981200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en-US" sz="2000" b="1" dirty="0">
                <a:latin typeface="Times New Roman" panose="02020603050405020304" pitchFamily="18" charset="0"/>
              </a:rPr>
              <a:t>Attack</a:t>
            </a:r>
          </a:p>
        </p:txBody>
      </p:sp>
      <p:sp>
        <p:nvSpPr>
          <p:cNvPr id="48134" name="Oval 6">
            <a:extLst>
              <a:ext uri="{FF2B5EF4-FFF2-40B4-BE49-F238E27FC236}">
                <a16:creationId xmlns:a16="http://schemas.microsoft.com/office/drawing/2014/main" id="{FA75F943-70F5-ABCB-5DBD-8F0CA8645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505200"/>
            <a:ext cx="990600" cy="990600"/>
          </a:xfrm>
          <a:prstGeom prst="ellipse">
            <a:avLst/>
          </a:prstGeom>
          <a:solidFill>
            <a:srgbClr val="03E7ED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altLang="en-US" sz="1600">
                <a:latin typeface="Times New Roman" panose="02020603050405020304" pitchFamily="18" charset="0"/>
              </a:rPr>
              <a:t>Start</a:t>
            </a:r>
          </a:p>
        </p:txBody>
      </p:sp>
      <p:grpSp>
        <p:nvGrpSpPr>
          <p:cNvPr id="48135" name="Group 7">
            <a:extLst>
              <a:ext uri="{FF2B5EF4-FFF2-40B4-BE49-F238E27FC236}">
                <a16:creationId xmlns:a16="http://schemas.microsoft.com/office/drawing/2014/main" id="{B2E6297D-5DE0-E98B-7CE3-6934595A0838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590800"/>
            <a:ext cx="1752600" cy="1143000"/>
            <a:chOff x="2544" y="1776"/>
            <a:chExt cx="1104" cy="720"/>
          </a:xfrm>
          <a:solidFill>
            <a:srgbClr val="03E7ED"/>
          </a:solidFill>
        </p:grpSpPr>
        <p:sp>
          <p:nvSpPr>
            <p:cNvPr id="48136" name="Oval 8">
              <a:extLst>
                <a:ext uri="{FF2B5EF4-FFF2-40B4-BE49-F238E27FC236}">
                  <a16:creationId xmlns:a16="http://schemas.microsoft.com/office/drawing/2014/main" id="{539E7F62-0887-BADC-3C07-AE3746FC9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776"/>
              <a:ext cx="624" cy="624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dirty="0">
                  <a:latin typeface="Times New Roman" panose="02020603050405020304" pitchFamily="18" charset="0"/>
                </a:rPr>
                <a:t>Approach</a:t>
              </a:r>
            </a:p>
          </p:txBody>
        </p:sp>
        <p:sp>
          <p:nvSpPr>
            <p:cNvPr id="48137" name="Line 9">
              <a:extLst>
                <a:ext uri="{FF2B5EF4-FFF2-40B4-BE49-F238E27FC236}">
                  <a16:creationId xmlns:a16="http://schemas.microsoft.com/office/drawing/2014/main" id="{E7A280A7-B419-DF37-7CFB-8700028F68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68" y="2208"/>
              <a:ext cx="480" cy="288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138" name="Group 10">
            <a:extLst>
              <a:ext uri="{FF2B5EF4-FFF2-40B4-BE49-F238E27FC236}">
                <a16:creationId xmlns:a16="http://schemas.microsoft.com/office/drawing/2014/main" id="{E5A5DF99-A5F2-7C7C-EB8C-B4D14CA26301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3581400"/>
            <a:ext cx="1828800" cy="2286000"/>
            <a:chOff x="2592" y="2400"/>
            <a:chExt cx="1152" cy="1440"/>
          </a:xfrm>
          <a:solidFill>
            <a:srgbClr val="03E7ED"/>
          </a:solidFill>
        </p:grpSpPr>
        <p:sp>
          <p:nvSpPr>
            <p:cNvPr id="48139" name="Oval 11">
              <a:extLst>
                <a:ext uri="{FF2B5EF4-FFF2-40B4-BE49-F238E27FC236}">
                  <a16:creationId xmlns:a16="http://schemas.microsoft.com/office/drawing/2014/main" id="{0219A3F2-263E-ECBB-5ECA-432F24DC5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216"/>
              <a:ext cx="624" cy="624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dirty="0">
                  <a:latin typeface="Times New Roman" panose="02020603050405020304" pitchFamily="18" charset="0"/>
                </a:rPr>
                <a:t>Aim &amp; </a:t>
              </a:r>
            </a:p>
            <a:p>
              <a:pPr algn="ctr" eaLnBrk="0" hangingPunct="0"/>
              <a:r>
                <a:rPr lang="en-US" altLang="en-US" sz="1600" dirty="0">
                  <a:latin typeface="Times New Roman" panose="02020603050405020304" pitchFamily="18" charset="0"/>
                </a:rPr>
                <a:t>Jump &amp;</a:t>
              </a:r>
            </a:p>
            <a:p>
              <a:pPr algn="ctr" eaLnBrk="0" hangingPunct="0"/>
              <a:r>
                <a:rPr lang="en-US" altLang="en-US" sz="1600" dirty="0">
                  <a:latin typeface="Times New Roman" panose="02020603050405020304" pitchFamily="18" charset="0"/>
                </a:rPr>
                <a:t>Shoot</a:t>
              </a:r>
            </a:p>
          </p:txBody>
        </p:sp>
        <p:sp>
          <p:nvSpPr>
            <p:cNvPr id="48140" name="Line 12">
              <a:extLst>
                <a:ext uri="{FF2B5EF4-FFF2-40B4-BE49-F238E27FC236}">
                  <a16:creationId xmlns:a16="http://schemas.microsoft.com/office/drawing/2014/main" id="{5E9472BE-03C0-8470-EEED-985738345B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928"/>
              <a:ext cx="576" cy="43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1" name="Line 13">
              <a:extLst>
                <a:ext uri="{FF2B5EF4-FFF2-40B4-BE49-F238E27FC236}">
                  <a16:creationId xmlns:a16="http://schemas.microsoft.com/office/drawing/2014/main" id="{A646099D-55E3-C54C-4B62-5D525CEE5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400"/>
              <a:ext cx="48" cy="816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2" name="Line 14">
              <a:extLst>
                <a:ext uri="{FF2B5EF4-FFF2-40B4-BE49-F238E27FC236}">
                  <a16:creationId xmlns:a16="http://schemas.microsoft.com/office/drawing/2014/main" id="{74555AE2-E4D7-37E3-F9F7-BB1AA3EAB2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6" y="2400"/>
              <a:ext cx="48" cy="86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143" name="Group 15">
            <a:extLst>
              <a:ext uri="{FF2B5EF4-FFF2-40B4-BE49-F238E27FC236}">
                <a16:creationId xmlns:a16="http://schemas.microsoft.com/office/drawing/2014/main" id="{D456D111-FEED-3EE0-59DB-E0FAF00A3294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505200"/>
            <a:ext cx="2819400" cy="1981200"/>
            <a:chOff x="1824" y="2352"/>
            <a:chExt cx="1776" cy="1248"/>
          </a:xfrm>
          <a:solidFill>
            <a:srgbClr val="03E7ED"/>
          </a:solidFill>
        </p:grpSpPr>
        <p:sp>
          <p:nvSpPr>
            <p:cNvPr id="48144" name="Oval 16">
              <a:extLst>
                <a:ext uri="{FF2B5EF4-FFF2-40B4-BE49-F238E27FC236}">
                  <a16:creationId xmlns:a16="http://schemas.microsoft.com/office/drawing/2014/main" id="{2C28B4A7-60FD-33C8-1284-8082081E8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976"/>
              <a:ext cx="624" cy="624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>
                  <a:latin typeface="Times New Roman" panose="02020603050405020304" pitchFamily="18" charset="0"/>
                </a:rPr>
                <a:t>Aim &amp; </a:t>
              </a:r>
            </a:p>
            <a:p>
              <a:pPr algn="ctr" eaLnBrk="0" hangingPunct="0"/>
              <a:r>
                <a:rPr lang="en-US" altLang="en-US" sz="1600">
                  <a:latin typeface="Times New Roman" panose="02020603050405020304" pitchFamily="18" charset="0"/>
                </a:rPr>
                <a:t>Slide Left</a:t>
              </a:r>
            </a:p>
            <a:p>
              <a:pPr algn="ctr" eaLnBrk="0" hangingPunct="0"/>
              <a:r>
                <a:rPr lang="en-US" altLang="en-US" sz="1600">
                  <a:latin typeface="Times New Roman" panose="02020603050405020304" pitchFamily="18" charset="0"/>
                </a:rPr>
                <a:t>&amp; Shoot</a:t>
              </a:r>
            </a:p>
          </p:txBody>
        </p:sp>
        <p:sp>
          <p:nvSpPr>
            <p:cNvPr id="48145" name="Line 17">
              <a:extLst>
                <a:ext uri="{FF2B5EF4-FFF2-40B4-BE49-F238E27FC236}">
                  <a16:creationId xmlns:a16="http://schemas.microsoft.com/office/drawing/2014/main" id="{2ECED57A-93DD-04EB-0A51-F9A878AA96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784"/>
              <a:ext cx="1200" cy="38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6" name="Line 18">
              <a:extLst>
                <a:ext uri="{FF2B5EF4-FFF2-40B4-BE49-F238E27FC236}">
                  <a16:creationId xmlns:a16="http://schemas.microsoft.com/office/drawing/2014/main" id="{181A5DF3-DAE7-CEA2-53F9-8A878D2A3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2352"/>
              <a:ext cx="384" cy="6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7" name="Line 19">
              <a:extLst>
                <a:ext uri="{FF2B5EF4-FFF2-40B4-BE49-F238E27FC236}">
                  <a16:creationId xmlns:a16="http://schemas.microsoft.com/office/drawing/2014/main" id="{35EB7C9C-35A7-0EB3-68A6-FDD977ACD3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400"/>
              <a:ext cx="432" cy="6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148" name="Group 20">
            <a:extLst>
              <a:ext uri="{FF2B5EF4-FFF2-40B4-BE49-F238E27FC236}">
                <a16:creationId xmlns:a16="http://schemas.microsoft.com/office/drawing/2014/main" id="{3B9B7733-266F-7A79-78B6-2001D6B5F30D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352800"/>
            <a:ext cx="3124200" cy="990600"/>
            <a:chOff x="1632" y="2256"/>
            <a:chExt cx="1968" cy="624"/>
          </a:xfrm>
        </p:grpSpPr>
        <p:sp>
          <p:nvSpPr>
            <p:cNvPr id="48149" name="Oval 21">
              <a:extLst>
                <a:ext uri="{FF2B5EF4-FFF2-40B4-BE49-F238E27FC236}">
                  <a16:creationId xmlns:a16="http://schemas.microsoft.com/office/drawing/2014/main" id="{D97ED6DF-6FCD-C2A1-997E-0DD77E053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56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dirty="0">
                  <a:latin typeface="Times New Roman" panose="02020603050405020304" pitchFamily="18" charset="0"/>
                </a:rPr>
                <a:t>Aim &amp; </a:t>
              </a:r>
            </a:p>
            <a:p>
              <a:pPr algn="ctr" eaLnBrk="0" hangingPunct="0"/>
              <a:r>
                <a:rPr lang="en-US" altLang="en-US" sz="1600" dirty="0">
                  <a:latin typeface="Times New Roman" panose="02020603050405020304" pitchFamily="18" charset="0"/>
                </a:rPr>
                <a:t>Slide Right</a:t>
              </a:r>
            </a:p>
            <a:p>
              <a:pPr algn="ctr" eaLnBrk="0" hangingPunct="0"/>
              <a:r>
                <a:rPr lang="en-US" altLang="en-US" sz="1600" dirty="0">
                  <a:latin typeface="Times New Roman" panose="02020603050405020304" pitchFamily="18" charset="0"/>
                </a:rPr>
                <a:t>&amp; Shoot</a:t>
              </a:r>
            </a:p>
          </p:txBody>
        </p:sp>
        <p:sp>
          <p:nvSpPr>
            <p:cNvPr id="48150" name="Line 22">
              <a:extLst>
                <a:ext uri="{FF2B5EF4-FFF2-40B4-BE49-F238E27FC236}">
                  <a16:creationId xmlns:a16="http://schemas.microsoft.com/office/drawing/2014/main" id="{63472A78-4387-DD8F-8AD4-FD2BE3B5AC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6" y="2592"/>
              <a:ext cx="13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1" name="Line 23">
              <a:extLst>
                <a:ext uri="{FF2B5EF4-FFF2-40B4-BE49-F238E27FC236}">
                  <a16:creationId xmlns:a16="http://schemas.microsoft.com/office/drawing/2014/main" id="{A44055A8-9AA9-06AE-1CEE-4B708BEF62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8" y="2256"/>
              <a:ext cx="38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2" name="Line 24">
              <a:extLst>
                <a:ext uri="{FF2B5EF4-FFF2-40B4-BE49-F238E27FC236}">
                  <a16:creationId xmlns:a16="http://schemas.microsoft.com/office/drawing/2014/main" id="{7B40E241-29A3-5D6E-931A-8A5121FC41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2304"/>
              <a:ext cx="38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153" name="Group 25">
            <a:extLst>
              <a:ext uri="{FF2B5EF4-FFF2-40B4-BE49-F238E27FC236}">
                <a16:creationId xmlns:a16="http://schemas.microsoft.com/office/drawing/2014/main" id="{1F28E84B-95A6-9918-A0F2-E528D775A01D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200400"/>
            <a:ext cx="2438400" cy="1616075"/>
            <a:chOff x="2256" y="2160"/>
            <a:chExt cx="1536" cy="1018"/>
          </a:xfrm>
        </p:grpSpPr>
        <p:sp>
          <p:nvSpPr>
            <p:cNvPr id="48154" name="Text Box 26">
              <a:extLst>
                <a:ext uri="{FF2B5EF4-FFF2-40B4-BE49-F238E27FC236}">
                  <a16:creationId xmlns:a16="http://schemas.microsoft.com/office/drawing/2014/main" id="{101D1F25-69D9-CF5F-3135-9892D9746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544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.3</a:t>
              </a:r>
            </a:p>
          </p:txBody>
        </p:sp>
        <p:sp>
          <p:nvSpPr>
            <p:cNvPr id="48155" name="Text Box 27">
              <a:extLst>
                <a:ext uri="{FF2B5EF4-FFF2-40B4-BE49-F238E27FC236}">
                  <a16:creationId xmlns:a16="http://schemas.microsoft.com/office/drawing/2014/main" id="{FEF7D500-593E-78C3-2B42-F22B868EF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68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.3</a:t>
              </a:r>
            </a:p>
          </p:txBody>
        </p:sp>
        <p:sp>
          <p:nvSpPr>
            <p:cNvPr id="48156" name="Text Box 28">
              <a:extLst>
                <a:ext uri="{FF2B5EF4-FFF2-40B4-BE49-F238E27FC236}">
                  <a16:creationId xmlns:a16="http://schemas.microsoft.com/office/drawing/2014/main" id="{E5FF5EB4-1A00-409C-3F0F-8653EF2D3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92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.4</a:t>
              </a:r>
            </a:p>
          </p:txBody>
        </p:sp>
        <p:sp>
          <p:nvSpPr>
            <p:cNvPr id="48157" name="Text Box 29">
              <a:extLst>
                <a:ext uri="{FF2B5EF4-FFF2-40B4-BE49-F238E27FC236}">
                  <a16:creationId xmlns:a16="http://schemas.microsoft.com/office/drawing/2014/main" id="{07C3E663-6848-8D3D-DE01-172A09DE3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5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.3</a:t>
              </a:r>
            </a:p>
          </p:txBody>
        </p:sp>
        <p:sp>
          <p:nvSpPr>
            <p:cNvPr id="48158" name="Text Box 30">
              <a:extLst>
                <a:ext uri="{FF2B5EF4-FFF2-40B4-BE49-F238E27FC236}">
                  <a16:creationId xmlns:a16="http://schemas.microsoft.com/office/drawing/2014/main" id="{D4090EEF-667F-5381-E629-810FE24BD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16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.3</a:t>
              </a:r>
            </a:p>
          </p:txBody>
        </p:sp>
        <p:sp>
          <p:nvSpPr>
            <p:cNvPr id="48159" name="Text Box 31">
              <a:extLst>
                <a:ext uri="{FF2B5EF4-FFF2-40B4-BE49-F238E27FC236}">
                  <a16:creationId xmlns:a16="http://schemas.microsoft.com/office/drawing/2014/main" id="{E1519FB6-F955-2EDB-09D4-2C5784244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64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.4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A362296-96D1-78A8-E9A3-6431919D3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696912"/>
          </a:xfrm>
        </p:spPr>
        <p:txBody>
          <a:bodyPr/>
          <a:lstStyle/>
          <a:p>
            <a:r>
              <a:rPr lang="en-US" altLang="en-US" dirty="0"/>
              <a:t>FSM Example</a:t>
            </a:r>
          </a:p>
        </p:txBody>
      </p:sp>
      <p:grpSp>
        <p:nvGrpSpPr>
          <p:cNvPr id="44036" name="Group 4">
            <a:extLst>
              <a:ext uri="{FF2B5EF4-FFF2-40B4-BE49-F238E27FC236}">
                <a16:creationId xmlns:a16="http://schemas.microsoft.com/office/drawing/2014/main" id="{6ABC57B7-BEEA-1D3E-32A2-F593E576B1B0}"/>
              </a:ext>
            </a:extLst>
          </p:cNvPr>
          <p:cNvGrpSpPr>
            <a:grpSpLocks/>
          </p:cNvGrpSpPr>
          <p:nvPr/>
        </p:nvGrpSpPr>
        <p:grpSpPr bwMode="auto">
          <a:xfrm>
            <a:off x="184079" y="1447800"/>
            <a:ext cx="6096000" cy="5257800"/>
            <a:chOff x="144" y="912"/>
            <a:chExt cx="3840" cy="3312"/>
          </a:xfrm>
        </p:grpSpPr>
        <p:sp>
          <p:nvSpPr>
            <p:cNvPr id="44037" name="Oval 5">
              <a:extLst>
                <a:ext uri="{FF2B5EF4-FFF2-40B4-BE49-F238E27FC236}">
                  <a16:creationId xmlns:a16="http://schemas.microsoft.com/office/drawing/2014/main" id="{EEC928B3-8CED-28E3-870D-F4D8981E4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600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Spawn</a:t>
              </a:r>
            </a:p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D </a:t>
              </a:r>
            </a:p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(-E,-S,-L)</a:t>
              </a:r>
            </a:p>
          </p:txBody>
        </p:sp>
        <p:sp>
          <p:nvSpPr>
            <p:cNvPr id="44038" name="Oval 6">
              <a:extLst>
                <a:ext uri="{FF2B5EF4-FFF2-40B4-BE49-F238E27FC236}">
                  <a16:creationId xmlns:a16="http://schemas.microsoft.com/office/drawing/2014/main" id="{C7217922-547D-79D3-B913-4692466A3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784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Wander</a:t>
              </a:r>
            </a:p>
            <a:p>
              <a:pPr algn="ctr" eaLnBrk="0" hangingPunct="0"/>
              <a:r>
                <a:rPr lang="en-US" altLang="en-US" sz="14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-E,-D,-S,-L</a:t>
              </a:r>
            </a:p>
          </p:txBody>
        </p:sp>
        <p:sp>
          <p:nvSpPr>
            <p:cNvPr id="44039" name="Text Box 7">
              <a:extLst>
                <a:ext uri="{FF2B5EF4-FFF2-40B4-BE49-F238E27FC236}">
                  <a16:creationId xmlns:a16="http://schemas.microsoft.com/office/drawing/2014/main" id="{A3B7FAE5-3A3E-D451-DA6C-52B2D58D9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824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4040" name="Text Box 8">
              <a:extLst>
                <a:ext uri="{FF2B5EF4-FFF2-40B4-BE49-F238E27FC236}">
                  <a16:creationId xmlns:a16="http://schemas.microsoft.com/office/drawing/2014/main" id="{A20627B4-4EC4-84FE-F42D-2D1C4535A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344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-S</a:t>
              </a:r>
            </a:p>
          </p:txBody>
        </p:sp>
        <p:sp>
          <p:nvSpPr>
            <p:cNvPr id="44041" name="Oval 9">
              <a:extLst>
                <a:ext uri="{FF2B5EF4-FFF2-40B4-BE49-F238E27FC236}">
                  <a16:creationId xmlns:a16="http://schemas.microsoft.com/office/drawing/2014/main" id="{CAAD87F5-6053-ABCF-C656-FAF1CF330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104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Attack-E</a:t>
              </a:r>
            </a:p>
            <a:p>
              <a:pPr algn="ctr" eaLnBrk="0" hangingPunct="0"/>
              <a:r>
                <a:rPr lang="en-US" altLang="en-US" sz="16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E,-D,-S,-L</a:t>
              </a:r>
            </a:p>
          </p:txBody>
        </p:sp>
        <p:sp>
          <p:nvSpPr>
            <p:cNvPr id="44042" name="Line 10">
              <a:extLst>
                <a:ext uri="{FF2B5EF4-FFF2-40B4-BE49-F238E27FC236}">
                  <a16:creationId xmlns:a16="http://schemas.microsoft.com/office/drawing/2014/main" id="{4042846B-8C5A-F65C-EF8D-378788192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728"/>
              <a:ext cx="288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3" name="Line 11">
              <a:extLst>
                <a:ext uri="{FF2B5EF4-FFF2-40B4-BE49-F238E27FC236}">
                  <a16:creationId xmlns:a16="http://schemas.microsoft.com/office/drawing/2014/main" id="{B70B507A-880A-1D22-DEEC-4E4909C3B5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1728"/>
              <a:ext cx="672" cy="18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4" name="Text Box 12">
              <a:extLst>
                <a:ext uri="{FF2B5EF4-FFF2-40B4-BE49-F238E27FC236}">
                  <a16:creationId xmlns:a16="http://schemas.microsoft.com/office/drawing/2014/main" id="{0F7C3350-6ABC-8D6B-5E4C-00263B8DA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87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4045" name="Oval 13">
              <a:extLst>
                <a:ext uri="{FF2B5EF4-FFF2-40B4-BE49-F238E27FC236}">
                  <a16:creationId xmlns:a16="http://schemas.microsoft.com/office/drawing/2014/main" id="{2B14FCB2-AF23-B605-EFDA-F6FEF2D3A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12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Chase</a:t>
              </a:r>
            </a:p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-E,-D,S,-L</a:t>
              </a:r>
            </a:p>
          </p:txBody>
        </p:sp>
        <p:sp>
          <p:nvSpPr>
            <p:cNvPr id="44046" name="Text Box 14">
              <a:extLst>
                <a:ext uri="{FF2B5EF4-FFF2-40B4-BE49-F238E27FC236}">
                  <a16:creationId xmlns:a16="http://schemas.microsoft.com/office/drawing/2014/main" id="{D26E6474-E605-487F-B900-3D5F699AF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104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4047" name="Text Box 15">
              <a:extLst>
                <a:ext uri="{FF2B5EF4-FFF2-40B4-BE49-F238E27FC236}">
                  <a16:creationId xmlns:a16="http://schemas.microsoft.com/office/drawing/2014/main" id="{B9455F0A-67BD-0F86-DFA8-465F888A0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504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4048" name="Text Box 16">
              <a:extLst>
                <a:ext uri="{FF2B5EF4-FFF2-40B4-BE49-F238E27FC236}">
                  <a16:creationId xmlns:a16="http://schemas.microsoft.com/office/drawing/2014/main" id="{D42D2D85-1949-163F-0428-D61F8102F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792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4049" name="Text Box 17">
              <a:extLst>
                <a:ext uri="{FF2B5EF4-FFF2-40B4-BE49-F238E27FC236}">
                  <a16:creationId xmlns:a16="http://schemas.microsoft.com/office/drawing/2014/main" id="{39C53A2F-838F-1783-80F9-9107D88B4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264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4050" name="Text Box 18">
              <a:extLst>
                <a:ext uri="{FF2B5EF4-FFF2-40B4-BE49-F238E27FC236}">
                  <a16:creationId xmlns:a16="http://schemas.microsoft.com/office/drawing/2014/main" id="{CFEF04F7-C686-B27F-8EB7-D5FEC53CC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504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4051" name="Oval 19">
              <a:extLst>
                <a:ext uri="{FF2B5EF4-FFF2-40B4-BE49-F238E27FC236}">
                  <a16:creationId xmlns:a16="http://schemas.microsoft.com/office/drawing/2014/main" id="{CBCEDAEC-4F1B-1C6B-FEF6-28E874B8E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640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Retreat-E</a:t>
              </a:r>
            </a:p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E,-D,-S,L</a:t>
              </a:r>
            </a:p>
          </p:txBody>
        </p:sp>
        <p:sp>
          <p:nvSpPr>
            <p:cNvPr id="44052" name="Text Box 20">
              <a:extLst>
                <a:ext uri="{FF2B5EF4-FFF2-40B4-BE49-F238E27FC236}">
                  <a16:creationId xmlns:a16="http://schemas.microsoft.com/office/drawing/2014/main" id="{D65BB930-D132-A6D3-17D4-CEF0B0D46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488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4053" name="Text Box 21">
              <a:extLst>
                <a:ext uri="{FF2B5EF4-FFF2-40B4-BE49-F238E27FC236}">
                  <a16:creationId xmlns:a16="http://schemas.microsoft.com/office/drawing/2014/main" id="{E20CB871-DDAC-A3DB-04B1-F3D02D49A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880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>
                  <a:latin typeface="Times New Roman" panose="02020603050405020304" pitchFamily="18" charset="0"/>
                </a:rPr>
                <a:t>-E</a:t>
              </a:r>
            </a:p>
          </p:txBody>
        </p:sp>
        <p:sp>
          <p:nvSpPr>
            <p:cNvPr id="44054" name="Oval 22">
              <a:extLst>
                <a:ext uri="{FF2B5EF4-FFF2-40B4-BE49-F238E27FC236}">
                  <a16:creationId xmlns:a16="http://schemas.microsoft.com/office/drawing/2014/main" id="{56A19796-CC87-14DA-20CD-0D92BA992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Retreat-S</a:t>
              </a:r>
            </a:p>
            <a:p>
              <a:pPr algn="ctr" eaLnBrk="0" hangingPunct="0"/>
              <a:r>
                <a:rPr lang="en-US" altLang="en-US" sz="16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-E,-D,S,L</a:t>
              </a:r>
            </a:p>
            <a:p>
              <a:pPr algn="ctr" eaLnBrk="0" hangingPunct="0"/>
              <a:endParaRPr lang="en-US" altLang="en-US" sz="1600" b="1" dirty="0">
                <a:solidFill>
                  <a:sysClr val="windowText" lastClr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5" name="Oval 23">
              <a:extLst>
                <a:ext uri="{FF2B5EF4-FFF2-40B4-BE49-F238E27FC236}">
                  <a16:creationId xmlns:a16="http://schemas.microsoft.com/office/drawing/2014/main" id="{D173BC42-3B9F-4085-6311-597AE8D47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872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Wander-L</a:t>
              </a:r>
            </a:p>
            <a:p>
              <a:pPr algn="ctr" eaLnBrk="0" hangingPunct="0"/>
              <a:r>
                <a:rPr lang="en-US" altLang="en-US" sz="14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-E,-D,-S,L</a:t>
              </a:r>
            </a:p>
          </p:txBody>
        </p:sp>
        <p:sp>
          <p:nvSpPr>
            <p:cNvPr id="44056" name="Oval 24">
              <a:extLst>
                <a:ext uri="{FF2B5EF4-FFF2-40B4-BE49-F238E27FC236}">
                  <a16:creationId xmlns:a16="http://schemas.microsoft.com/office/drawing/2014/main" id="{DDF79449-3C41-D1FD-620B-E0AA0891B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24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Retreat-ES</a:t>
              </a:r>
            </a:p>
            <a:p>
              <a:pPr algn="ctr" eaLnBrk="0" hangingPunct="0"/>
              <a:r>
                <a:rPr lang="en-US" altLang="en-US" sz="1600" b="1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E,-D,S,L</a:t>
              </a:r>
            </a:p>
          </p:txBody>
        </p:sp>
        <p:sp>
          <p:nvSpPr>
            <p:cNvPr id="44057" name="Oval 25">
              <a:extLst>
                <a:ext uri="{FF2B5EF4-FFF2-40B4-BE49-F238E27FC236}">
                  <a16:creationId xmlns:a16="http://schemas.microsoft.com/office/drawing/2014/main" id="{A5CEA393-CF45-9FF2-A264-4519F8244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912"/>
              <a:ext cx="624" cy="624"/>
            </a:xfrm>
            <a:prstGeom prst="ellipse">
              <a:avLst/>
            </a:prstGeom>
            <a:solidFill>
              <a:srgbClr val="03E7ED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16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Attack-ES</a:t>
              </a:r>
            </a:p>
            <a:p>
              <a:pPr algn="ctr" eaLnBrk="0" hangingPunct="0"/>
              <a:r>
                <a:rPr lang="en-US" altLang="en-US" sz="16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</a:rPr>
                <a:t>E,-D,S,-L</a:t>
              </a:r>
            </a:p>
          </p:txBody>
        </p:sp>
        <p:sp>
          <p:nvSpPr>
            <p:cNvPr id="44058" name="Line 26">
              <a:extLst>
                <a:ext uri="{FF2B5EF4-FFF2-40B4-BE49-F238E27FC236}">
                  <a16:creationId xmlns:a16="http://schemas.microsoft.com/office/drawing/2014/main" id="{6C62BE03-9DF4-524E-1BF7-843E525C6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160"/>
              <a:ext cx="2448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9" name="Text Box 27">
              <a:extLst>
                <a:ext uri="{FF2B5EF4-FFF2-40B4-BE49-F238E27FC236}">
                  <a16:creationId xmlns:a16="http://schemas.microsoft.com/office/drawing/2014/main" id="{1F1C7E3E-B871-64C6-C4D9-EA78F1BF6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112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4060" name="Line 28">
              <a:extLst>
                <a:ext uri="{FF2B5EF4-FFF2-40B4-BE49-F238E27FC236}">
                  <a16:creationId xmlns:a16="http://schemas.microsoft.com/office/drawing/2014/main" id="{FF014F0F-7810-6DAE-1C60-76DCF48A51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1296"/>
              <a:ext cx="384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1" name="Line 29">
              <a:extLst>
                <a:ext uri="{FF2B5EF4-FFF2-40B4-BE49-F238E27FC236}">
                  <a16:creationId xmlns:a16="http://schemas.microsoft.com/office/drawing/2014/main" id="{2A1F4709-77AE-FBB0-8C63-CFE464941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536"/>
              <a:ext cx="1968" cy="1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2" name="Line 30">
              <a:extLst>
                <a:ext uri="{FF2B5EF4-FFF2-40B4-BE49-F238E27FC236}">
                  <a16:creationId xmlns:a16="http://schemas.microsoft.com/office/drawing/2014/main" id="{A3B605CC-1411-063E-4D0A-724574FBF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680"/>
              <a:ext cx="672" cy="1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3" name="Line 31">
              <a:extLst>
                <a:ext uri="{FF2B5EF4-FFF2-40B4-BE49-F238E27FC236}">
                  <a16:creationId xmlns:a16="http://schemas.microsoft.com/office/drawing/2014/main" id="{26E35806-FFDF-747F-7F92-FDDBE5DE88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392"/>
              <a:ext cx="432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4" name="Text Box 32">
              <a:extLst>
                <a:ext uri="{FF2B5EF4-FFF2-40B4-BE49-F238E27FC236}">
                  <a16:creationId xmlns:a16="http://schemas.microsoft.com/office/drawing/2014/main" id="{BD5CFEF7-2B3D-165C-1028-18D2FE109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536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4065" name="Text Box 33">
              <a:extLst>
                <a:ext uri="{FF2B5EF4-FFF2-40B4-BE49-F238E27FC236}">
                  <a16:creationId xmlns:a16="http://schemas.microsoft.com/office/drawing/2014/main" id="{EBB9F33D-2851-959E-0C2B-7E2B67114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680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-E</a:t>
              </a:r>
            </a:p>
          </p:txBody>
        </p:sp>
        <p:sp>
          <p:nvSpPr>
            <p:cNvPr id="44066" name="Text Box 34">
              <a:extLst>
                <a:ext uri="{FF2B5EF4-FFF2-40B4-BE49-F238E27FC236}">
                  <a16:creationId xmlns:a16="http://schemas.microsoft.com/office/drawing/2014/main" id="{826EC050-6B05-D1FB-A372-DE2DC756F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920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-L</a:t>
              </a:r>
            </a:p>
          </p:txBody>
        </p:sp>
        <p:sp>
          <p:nvSpPr>
            <p:cNvPr id="44067" name="Line 35">
              <a:extLst>
                <a:ext uri="{FF2B5EF4-FFF2-40B4-BE49-F238E27FC236}">
                  <a16:creationId xmlns:a16="http://schemas.microsoft.com/office/drawing/2014/main" id="{D6783B73-87FA-C971-F08E-9F57DF8B0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536"/>
              <a:ext cx="33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8" name="Line 36">
              <a:extLst>
                <a:ext uri="{FF2B5EF4-FFF2-40B4-BE49-F238E27FC236}">
                  <a16:creationId xmlns:a16="http://schemas.microsoft.com/office/drawing/2014/main" id="{D6C8CC4D-4F58-B558-9548-9F1E375FC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68" y="1632"/>
              <a:ext cx="28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69" name="Line 37">
              <a:extLst>
                <a:ext uri="{FF2B5EF4-FFF2-40B4-BE49-F238E27FC236}">
                  <a16:creationId xmlns:a16="http://schemas.microsoft.com/office/drawing/2014/main" id="{8BEE0C1F-FE8F-8525-1772-30C6845AA9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2448"/>
              <a:ext cx="4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0" name="Line 38">
              <a:extLst>
                <a:ext uri="{FF2B5EF4-FFF2-40B4-BE49-F238E27FC236}">
                  <a16:creationId xmlns:a16="http://schemas.microsoft.com/office/drawing/2014/main" id="{A900D882-FD52-4960-5A36-D746F502B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448"/>
              <a:ext cx="48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1" name="Text Box 39">
              <a:extLst>
                <a:ext uri="{FF2B5EF4-FFF2-40B4-BE49-F238E27FC236}">
                  <a16:creationId xmlns:a16="http://schemas.microsoft.com/office/drawing/2014/main" id="{DDC0D20C-1848-B274-FC6A-A024C63B9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352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-S</a:t>
              </a:r>
            </a:p>
          </p:txBody>
        </p:sp>
        <p:sp>
          <p:nvSpPr>
            <p:cNvPr id="44072" name="Line 40">
              <a:extLst>
                <a:ext uri="{FF2B5EF4-FFF2-40B4-BE49-F238E27FC236}">
                  <a16:creationId xmlns:a16="http://schemas.microsoft.com/office/drawing/2014/main" id="{4E3B94F0-4A47-256E-7229-33B7219AFD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3744"/>
              <a:ext cx="432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3" name="Line 41">
              <a:extLst>
                <a:ext uri="{FF2B5EF4-FFF2-40B4-BE49-F238E27FC236}">
                  <a16:creationId xmlns:a16="http://schemas.microsoft.com/office/drawing/2014/main" id="{E7399502-1836-344D-E387-12FCA12B4B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680"/>
              <a:ext cx="96" cy="16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4" name="Line 42">
              <a:extLst>
                <a:ext uri="{FF2B5EF4-FFF2-40B4-BE49-F238E27FC236}">
                  <a16:creationId xmlns:a16="http://schemas.microsoft.com/office/drawing/2014/main" id="{7A92F173-087F-FFCD-6669-3E3C13255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1680"/>
              <a:ext cx="96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5" name="Text Box 43">
              <a:extLst>
                <a:ext uri="{FF2B5EF4-FFF2-40B4-BE49-F238E27FC236}">
                  <a16:creationId xmlns:a16="http://schemas.microsoft.com/office/drawing/2014/main" id="{F2BE0411-9730-CD9A-2652-3595424D8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96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4076" name="Line 44">
              <a:extLst>
                <a:ext uri="{FF2B5EF4-FFF2-40B4-BE49-F238E27FC236}">
                  <a16:creationId xmlns:a16="http://schemas.microsoft.com/office/drawing/2014/main" id="{A74494BC-0ADE-5E1B-6109-EB51443997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3648"/>
              <a:ext cx="38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7" name="Line 45">
              <a:extLst>
                <a:ext uri="{FF2B5EF4-FFF2-40B4-BE49-F238E27FC236}">
                  <a16:creationId xmlns:a16="http://schemas.microsoft.com/office/drawing/2014/main" id="{D7E3036A-4BAF-345E-E0FB-97706F164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0" y="2496"/>
              <a:ext cx="48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8" name="Text Box 46">
              <a:extLst>
                <a:ext uri="{FF2B5EF4-FFF2-40B4-BE49-F238E27FC236}">
                  <a16:creationId xmlns:a16="http://schemas.microsoft.com/office/drawing/2014/main" id="{6F29AEA4-B197-4BF3-612E-73B0D63AB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928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-E</a:t>
              </a:r>
            </a:p>
          </p:txBody>
        </p:sp>
        <p:sp>
          <p:nvSpPr>
            <p:cNvPr id="44079" name="Text Box 47">
              <a:extLst>
                <a:ext uri="{FF2B5EF4-FFF2-40B4-BE49-F238E27FC236}">
                  <a16:creationId xmlns:a16="http://schemas.microsoft.com/office/drawing/2014/main" id="{E9A3EEA4-D4EE-3CE3-9F00-9F6DFCD39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976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4080" name="Text Box 48">
              <a:extLst>
                <a:ext uri="{FF2B5EF4-FFF2-40B4-BE49-F238E27FC236}">
                  <a16:creationId xmlns:a16="http://schemas.microsoft.com/office/drawing/2014/main" id="{61E4AFCA-253F-5AC1-AF56-4AD1568B6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544"/>
              <a:ext cx="2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4081" name="Text Box 49">
              <a:extLst>
                <a:ext uri="{FF2B5EF4-FFF2-40B4-BE49-F238E27FC236}">
                  <a16:creationId xmlns:a16="http://schemas.microsoft.com/office/drawing/2014/main" id="{A72061F7-B41D-8FE6-37AA-32828207F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48"/>
              <a:ext cx="2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-L</a:t>
              </a:r>
            </a:p>
          </p:txBody>
        </p:sp>
        <p:sp>
          <p:nvSpPr>
            <p:cNvPr id="44082" name="Line 50">
              <a:extLst>
                <a:ext uri="{FF2B5EF4-FFF2-40B4-BE49-F238E27FC236}">
                  <a16:creationId xmlns:a16="http://schemas.microsoft.com/office/drawing/2014/main" id="{00C3C918-1EAD-0BC5-EF41-9E7B52A49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2448"/>
              <a:ext cx="4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3" name="Line 51">
              <a:extLst>
                <a:ext uri="{FF2B5EF4-FFF2-40B4-BE49-F238E27FC236}">
                  <a16:creationId xmlns:a16="http://schemas.microsoft.com/office/drawing/2014/main" id="{501958FD-48A5-1B10-F9B1-A896CCA06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360"/>
              <a:ext cx="816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4" name="Line 52">
              <a:extLst>
                <a:ext uri="{FF2B5EF4-FFF2-40B4-BE49-F238E27FC236}">
                  <a16:creationId xmlns:a16="http://schemas.microsoft.com/office/drawing/2014/main" id="{808E5E2D-6FEF-578F-676C-8F7078D85F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0" y="2400"/>
              <a:ext cx="960" cy="1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5" name="Line 53">
              <a:extLst>
                <a:ext uri="{FF2B5EF4-FFF2-40B4-BE49-F238E27FC236}">
                  <a16:creationId xmlns:a16="http://schemas.microsoft.com/office/drawing/2014/main" id="{41BF9665-5EFB-7511-7725-6B9A80B89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64" y="1536"/>
              <a:ext cx="624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6" name="Line 54">
              <a:extLst>
                <a:ext uri="{FF2B5EF4-FFF2-40B4-BE49-F238E27FC236}">
                  <a16:creationId xmlns:a16="http://schemas.microsoft.com/office/drawing/2014/main" id="{8C374BDE-FDE9-17A4-BE6A-7AE9DBFDE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536"/>
              <a:ext cx="672" cy="18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7" name="Line 55">
              <a:extLst>
                <a:ext uri="{FF2B5EF4-FFF2-40B4-BE49-F238E27FC236}">
                  <a16:creationId xmlns:a16="http://schemas.microsoft.com/office/drawing/2014/main" id="{490B9138-B86F-A857-F623-4BF02652A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8" y="1584"/>
              <a:ext cx="1968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88" name="Text Box 56">
              <a:extLst>
                <a:ext uri="{FF2B5EF4-FFF2-40B4-BE49-F238E27FC236}">
                  <a16:creationId xmlns:a16="http://schemas.microsoft.com/office/drawing/2014/main" id="{81E4B0AC-73EE-9288-45DF-9FECBA0F7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>
                  <a:latin typeface="Times New Roman" panose="02020603050405020304" pitchFamily="18" charset="0"/>
                </a:rPr>
                <a:t>-L</a:t>
              </a:r>
            </a:p>
          </p:txBody>
        </p:sp>
        <p:sp>
          <p:nvSpPr>
            <p:cNvPr id="44089" name="Line 57">
              <a:extLst>
                <a:ext uri="{FF2B5EF4-FFF2-40B4-BE49-F238E27FC236}">
                  <a16:creationId xmlns:a16="http://schemas.microsoft.com/office/drawing/2014/main" id="{3B496BD9-1434-3FEA-2669-DDFDE057A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728"/>
              <a:ext cx="240" cy="1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0" name="Line 58">
              <a:extLst>
                <a:ext uri="{FF2B5EF4-FFF2-40B4-BE49-F238E27FC236}">
                  <a16:creationId xmlns:a16="http://schemas.microsoft.com/office/drawing/2014/main" id="{C20615A0-E52C-A5F5-C5D3-C53072D4D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68" y="2256"/>
              <a:ext cx="2496" cy="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1" name="Line 59">
              <a:extLst>
                <a:ext uri="{FF2B5EF4-FFF2-40B4-BE49-F238E27FC236}">
                  <a16:creationId xmlns:a16="http://schemas.microsoft.com/office/drawing/2014/main" id="{087F199E-1245-E8A2-F2FF-9F1808D84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344"/>
              <a:ext cx="1152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2" name="Line 60">
              <a:extLst>
                <a:ext uri="{FF2B5EF4-FFF2-40B4-BE49-F238E27FC236}">
                  <a16:creationId xmlns:a16="http://schemas.microsoft.com/office/drawing/2014/main" id="{5308BDFD-DBE8-4678-EBEC-B8509DC1F9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8" y="1440"/>
              <a:ext cx="1152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3" name="Text Box 61">
              <a:extLst>
                <a:ext uri="{FF2B5EF4-FFF2-40B4-BE49-F238E27FC236}">
                  <a16:creationId xmlns:a16="http://schemas.microsoft.com/office/drawing/2014/main" id="{28BC0700-1B1A-ABA0-552E-B4CE0FAE5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36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-L</a:t>
              </a:r>
            </a:p>
          </p:txBody>
        </p:sp>
        <p:sp>
          <p:nvSpPr>
            <p:cNvPr id="44094" name="Text Box 62">
              <a:extLst>
                <a:ext uri="{FF2B5EF4-FFF2-40B4-BE49-F238E27FC236}">
                  <a16:creationId xmlns:a16="http://schemas.microsoft.com/office/drawing/2014/main" id="{DE67856F-E48B-48A7-F909-4C830BA5B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112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4095" name="Line 63">
              <a:extLst>
                <a:ext uri="{FF2B5EF4-FFF2-40B4-BE49-F238E27FC236}">
                  <a16:creationId xmlns:a16="http://schemas.microsoft.com/office/drawing/2014/main" id="{22DE84EF-5179-4A0B-F233-CC49C8416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536"/>
              <a:ext cx="48" cy="20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6" name="Text Box 64">
              <a:extLst>
                <a:ext uri="{FF2B5EF4-FFF2-40B4-BE49-F238E27FC236}">
                  <a16:creationId xmlns:a16="http://schemas.microsoft.com/office/drawing/2014/main" id="{D32621F4-E59C-DF7D-5959-8BD4ACAF4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3216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en-US" sz="1600" b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4097" name="Line 65">
              <a:extLst>
                <a:ext uri="{FF2B5EF4-FFF2-40B4-BE49-F238E27FC236}">
                  <a16:creationId xmlns:a16="http://schemas.microsoft.com/office/drawing/2014/main" id="{95780D53-EB5A-D09A-84C1-2A4ACEA7A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584"/>
              <a:ext cx="206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8" name="Line 66">
              <a:extLst>
                <a:ext uri="{FF2B5EF4-FFF2-40B4-BE49-F238E27FC236}">
                  <a16:creationId xmlns:a16="http://schemas.microsoft.com/office/drawing/2014/main" id="{EB23FCF8-6218-BC6F-E154-503661E02A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1632"/>
              <a:ext cx="211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99" name="Line 67">
              <a:extLst>
                <a:ext uri="{FF2B5EF4-FFF2-40B4-BE49-F238E27FC236}">
                  <a16:creationId xmlns:a16="http://schemas.microsoft.com/office/drawing/2014/main" id="{79E6B643-CC1B-1A5C-B296-F45B86B32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680"/>
              <a:ext cx="864" cy="1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0" name="Line 68">
              <a:extLst>
                <a:ext uri="{FF2B5EF4-FFF2-40B4-BE49-F238E27FC236}">
                  <a16:creationId xmlns:a16="http://schemas.microsoft.com/office/drawing/2014/main" id="{C534490D-5A89-E48F-F0A6-45CE656ABE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2352"/>
              <a:ext cx="1344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1" name="Line 69">
              <a:extLst>
                <a:ext uri="{FF2B5EF4-FFF2-40B4-BE49-F238E27FC236}">
                  <a16:creationId xmlns:a16="http://schemas.microsoft.com/office/drawing/2014/main" id="{704D73B1-0454-B296-F5D4-EA3BC4976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3072"/>
              <a:ext cx="1152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102" name="Line 70">
              <a:extLst>
                <a:ext uri="{FF2B5EF4-FFF2-40B4-BE49-F238E27FC236}">
                  <a16:creationId xmlns:a16="http://schemas.microsoft.com/office/drawing/2014/main" id="{AFC5C4AF-C6DB-BFA3-B224-6733449DA5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12" y="3168"/>
              <a:ext cx="168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103" name="Line 71">
              <a:extLst>
                <a:ext uri="{FF2B5EF4-FFF2-40B4-BE49-F238E27FC236}">
                  <a16:creationId xmlns:a16="http://schemas.microsoft.com/office/drawing/2014/main" id="{36633761-E5A2-667D-BE26-DED759A39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072"/>
              <a:ext cx="168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104" name="Rectangle 72">
            <a:extLst>
              <a:ext uri="{FF2B5EF4-FFF2-40B4-BE49-F238E27FC236}">
                <a16:creationId xmlns:a16="http://schemas.microsoft.com/office/drawing/2014/main" id="{DAF796DC-01C2-6402-426E-0F2646AE8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839912"/>
            <a:ext cx="28956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 dirty="0"/>
              <a:t>Worst case: </a:t>
            </a:r>
          </a:p>
          <a:p>
            <a:pPr algn="ctr"/>
            <a:r>
              <a:rPr lang="en-US" altLang="en-US" dirty="0"/>
              <a:t>Each extra state variable can add 2</a:t>
            </a:r>
            <a:r>
              <a:rPr lang="en-US" altLang="en-US" sz="2000" i="1" baseline="30000" dirty="0"/>
              <a:t>n</a:t>
            </a:r>
            <a:r>
              <a:rPr lang="en-US" altLang="en-US" dirty="0"/>
              <a:t> extra states</a:t>
            </a:r>
          </a:p>
          <a:p>
            <a:pPr lvl="1" algn="ctr"/>
            <a:r>
              <a:rPr lang="en-US" altLang="en-US" i="1" dirty="0"/>
              <a:t>n</a:t>
            </a:r>
            <a:r>
              <a:rPr lang="en-US" altLang="en-US" dirty="0"/>
              <a:t> = number of existing states</a:t>
            </a:r>
          </a:p>
        </p:txBody>
      </p:sp>
      <p:sp>
        <p:nvSpPr>
          <p:cNvPr id="44105" name="Rectangle 73">
            <a:extLst>
              <a:ext uri="{FF2B5EF4-FFF2-40B4-BE49-F238E27FC236}">
                <a16:creationId xmlns:a16="http://schemas.microsoft.com/office/drawing/2014/main" id="{9E5A54D1-21E5-96FD-EB7F-29F359122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879" y="3666287"/>
            <a:ext cx="2895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dirty="0"/>
              <a:t>Using </a:t>
            </a:r>
            <a:r>
              <a:rPr lang="en-US" altLang="en-US" b="1" dirty="0"/>
              <a:t>a stack </a:t>
            </a:r>
            <a:r>
              <a:rPr lang="en-US" altLang="en-US" dirty="0"/>
              <a:t>would allow much of this </a:t>
            </a:r>
            <a:r>
              <a:rPr lang="en-US" altLang="en-US" dirty="0" err="1"/>
              <a:t>behaviour</a:t>
            </a:r>
            <a:r>
              <a:rPr lang="en-US" altLang="en-US" dirty="0"/>
              <a:t> without the extra states (</a:t>
            </a:r>
            <a:r>
              <a:rPr lang="en-US" b="1" dirty="0"/>
              <a:t>Pushdown Automata (PDA)</a:t>
            </a:r>
            <a:r>
              <a:rPr lang="en-US" dirty="0"/>
              <a:t>)</a:t>
            </a:r>
            <a:r>
              <a:rPr lang="en-US" altLang="en-US" b="1"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83B48FB9-2104-0239-DB1F-AD46376A0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/>
          <a:lstStyle/>
          <a:p>
            <a:r>
              <a:rPr lang="en-US" altLang="en-US" dirty="0"/>
              <a:t>Stack FSM – Thief 3</a:t>
            </a:r>
          </a:p>
        </p:txBody>
      </p:sp>
      <p:pic>
        <p:nvPicPr>
          <p:cNvPr id="35844" name="Picture 4">
            <a:extLst>
              <a:ext uri="{FF2B5EF4-FFF2-40B4-BE49-F238E27FC236}">
                <a16:creationId xmlns:a16="http://schemas.microsoft.com/office/drawing/2014/main" id="{D0AA8D2F-C3DB-0BFB-3211-37DF428A6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00600" y="1447800"/>
            <a:ext cx="4191000" cy="315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5" name="Picture 5">
            <a:extLst>
              <a:ext uri="{FF2B5EF4-FFF2-40B4-BE49-F238E27FC236}">
                <a16:creationId xmlns:a16="http://schemas.microsoft.com/office/drawing/2014/main" id="{D264742D-2D6C-8006-773F-1FD79045B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3886200" cy="292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6" name="Picture 6">
            <a:extLst>
              <a:ext uri="{FF2B5EF4-FFF2-40B4-BE49-F238E27FC236}">
                <a16:creationId xmlns:a16="http://schemas.microsoft.com/office/drawing/2014/main" id="{2D0433B2-CC62-88E5-88AB-24EE6B015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19400" y="3962400"/>
            <a:ext cx="36576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7" name="Text Box 7">
            <a:extLst>
              <a:ext uri="{FF2B5EF4-FFF2-40B4-BE49-F238E27FC236}">
                <a16:creationId xmlns:a16="http://schemas.microsoft.com/office/drawing/2014/main" id="{BAF159FC-F704-F651-9011-843C65C37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905375"/>
            <a:ext cx="1981200" cy="12287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Stack allows AI to move back and forth between states.</a:t>
            </a:r>
          </a:p>
        </p:txBody>
      </p:sp>
      <p:sp>
        <p:nvSpPr>
          <p:cNvPr id="35849" name="Text Box 9">
            <a:extLst>
              <a:ext uri="{FF2B5EF4-FFF2-40B4-BE49-F238E27FC236}">
                <a16:creationId xmlns:a16="http://schemas.microsoft.com/office/drawing/2014/main" id="{34D2C8B3-AD5B-9CFE-5231-EFA1FF585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943475"/>
            <a:ext cx="1981200" cy="150336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Leads to more realistic behavior without increasing FSM complexity.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Rectangle 7">
            <a:extLst>
              <a:ext uri="{FF2B5EF4-FFF2-40B4-BE49-F238E27FC236}">
                <a16:creationId xmlns:a16="http://schemas.microsoft.com/office/drawing/2014/main" id="{CC3097CA-B984-21D8-7704-C0A02EF3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334000"/>
            <a:ext cx="13716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0E3A4556-0028-4682-24CE-454453E80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371600"/>
            <a:ext cx="13716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Rectangle 9">
            <a:extLst>
              <a:ext uri="{FF2B5EF4-FFF2-40B4-BE49-F238E27FC236}">
                <a16:creationId xmlns:a16="http://schemas.microsoft.com/office/drawing/2014/main" id="{E0F7DA4F-2972-2485-6A1A-D1F5DB390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362200"/>
            <a:ext cx="13716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8C411B64-C34F-E22F-1961-C5CC58283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886200"/>
            <a:ext cx="13716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187AECBC-8188-91A2-A9BA-0E3ED15E88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9013" y="633413"/>
            <a:ext cx="8229600" cy="1143000"/>
          </a:xfrm>
        </p:spPr>
        <p:txBody>
          <a:bodyPr/>
          <a:lstStyle/>
          <a:p>
            <a:r>
              <a:rPr lang="en-US" altLang="en-US" sz="4000" dirty="0"/>
              <a:t>More FSM Extensions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47A92A4-C203-A69F-291D-ED736EB25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2057400"/>
            <a:ext cx="4648200" cy="43402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Fuzzy State Machines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Degrees of truth allow multiple FSM’s to contribute to character actions.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Multiple FSM’s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High level FSM coordinates several smaller FSM’s.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Polymorphic FSM’s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Allows common behavior to be shared.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Soldier -&gt; German -&gt; Machine Gunner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794A5DE7-FC90-ED69-6F08-AD3A6826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0" y="4008438"/>
            <a:ext cx="3810000" cy="247332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5">
            <a:extLst>
              <a:ext uri="{FF2B5EF4-FFF2-40B4-BE49-F238E27FC236}">
                <a16:creationId xmlns:a16="http://schemas.microsoft.com/office/drawing/2014/main" id="{B23228D7-15B9-AAB5-144B-63593031A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38800" y="1524000"/>
            <a:ext cx="3124200" cy="202882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BA0A770-636A-D239-B31D-A38C28963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Polymorphic FSM Example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DA52EDC8-5C16-F0FF-A2B9-217AE8B75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905000"/>
            <a:ext cx="2362200" cy="685800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Soldier</a:t>
            </a:r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59EE8133-EE90-7761-E4DC-42AED9900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429000"/>
            <a:ext cx="2362200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tx1"/>
            </a:extrusionClr>
            <a:contourClr>
              <a:schemeClr val="tx1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Rifleman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CC0226C7-8F1B-1893-D170-91C1C161B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2362200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tx1"/>
            </a:extrusionClr>
            <a:contourClr>
              <a:schemeClr val="tx1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Officer</a:t>
            </a:r>
          </a:p>
        </p:txBody>
      </p:sp>
      <p:grpSp>
        <p:nvGrpSpPr>
          <p:cNvPr id="54299" name="Group 27">
            <a:extLst>
              <a:ext uri="{FF2B5EF4-FFF2-40B4-BE49-F238E27FC236}">
                <a16:creationId xmlns:a16="http://schemas.microsoft.com/office/drawing/2014/main" id="{902DF62D-3D11-6A6E-1E3D-899E22127C55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953000"/>
            <a:ext cx="2362200" cy="1524000"/>
            <a:chOff x="192" y="2976"/>
            <a:chExt cx="1488" cy="96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4281" name="Rectangle 9">
              <a:extLst>
                <a:ext uri="{FF2B5EF4-FFF2-40B4-BE49-F238E27FC236}">
                  <a16:creationId xmlns:a16="http://schemas.microsoft.com/office/drawing/2014/main" id="{3340FEEC-B731-5B0B-B3A5-F1A9E6DE0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3504"/>
              <a:ext cx="721" cy="432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  <a:contourClr>
                <a:schemeClr val="accent2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/>
              <a:r>
                <a:rPr lang="en-US" altLang="en-US">
                  <a:solidFill>
                    <a:sysClr val="windowText" lastClr="000000"/>
                  </a:solidFill>
                </a:rPr>
                <a:t>British</a:t>
              </a:r>
            </a:p>
          </p:txBody>
        </p:sp>
        <p:sp>
          <p:nvSpPr>
            <p:cNvPr id="54287" name="Rectangle 15">
              <a:extLst>
                <a:ext uri="{FF2B5EF4-FFF2-40B4-BE49-F238E27FC236}">
                  <a16:creationId xmlns:a16="http://schemas.microsoft.com/office/drawing/2014/main" id="{4586CE97-5C30-B377-D3BE-E0CE95E78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" y="3504"/>
              <a:ext cx="721" cy="432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  <a:contourClr>
                <a:schemeClr val="accent2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/>
              <a:r>
                <a:rPr lang="en-US" altLang="en-US">
                  <a:solidFill>
                    <a:sysClr val="windowText" lastClr="000000"/>
                  </a:solidFill>
                </a:rPr>
                <a:t>Soviet</a:t>
              </a:r>
            </a:p>
          </p:txBody>
        </p:sp>
        <p:sp>
          <p:nvSpPr>
            <p:cNvPr id="54280" name="Rectangle 8">
              <a:extLst>
                <a:ext uri="{FF2B5EF4-FFF2-40B4-BE49-F238E27FC236}">
                  <a16:creationId xmlns:a16="http://schemas.microsoft.com/office/drawing/2014/main" id="{70955229-68EC-2036-6193-4C56219A9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976"/>
              <a:ext cx="721" cy="432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  <a:contourClr>
                <a:schemeClr val="accent2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/>
              <a:r>
                <a:rPr lang="en-US" altLang="en-US">
                  <a:solidFill>
                    <a:sysClr val="windowText" lastClr="000000"/>
                  </a:solidFill>
                </a:rPr>
                <a:t>American</a:t>
              </a:r>
            </a:p>
          </p:txBody>
        </p:sp>
        <p:sp>
          <p:nvSpPr>
            <p:cNvPr id="54282" name="Rectangle 10">
              <a:extLst>
                <a:ext uri="{FF2B5EF4-FFF2-40B4-BE49-F238E27FC236}">
                  <a16:creationId xmlns:a16="http://schemas.microsoft.com/office/drawing/2014/main" id="{D13092D2-67D9-AB23-DC81-5608AA1AE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" y="2976"/>
              <a:ext cx="721" cy="432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  <a:contourClr>
                <a:schemeClr val="accent2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/>
              <a:r>
                <a:rPr lang="en-US" altLang="en-US">
                  <a:solidFill>
                    <a:sysClr val="windowText" lastClr="000000"/>
                  </a:solidFill>
                </a:rPr>
                <a:t>German</a:t>
              </a:r>
            </a:p>
          </p:txBody>
        </p:sp>
      </p:grpSp>
      <p:sp>
        <p:nvSpPr>
          <p:cNvPr id="54286" name="Rectangle 14">
            <a:extLst>
              <a:ext uri="{FF2B5EF4-FFF2-40B4-BE49-F238E27FC236}">
                <a16:creationId xmlns:a16="http://schemas.microsoft.com/office/drawing/2014/main" id="{6040105C-FD4A-4721-7EF9-1B8593229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429000"/>
            <a:ext cx="2362200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tx1"/>
            </a:extrusionClr>
            <a:contourClr>
              <a:schemeClr val="tx1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Machine Gunner</a:t>
            </a:r>
          </a:p>
        </p:txBody>
      </p:sp>
      <p:sp>
        <p:nvSpPr>
          <p:cNvPr id="54301" name="Rectangle 29">
            <a:extLst>
              <a:ext uri="{FF2B5EF4-FFF2-40B4-BE49-F238E27FC236}">
                <a16:creationId xmlns:a16="http://schemas.microsoft.com/office/drawing/2014/main" id="{FCBA2BDE-A88A-0E3E-7C9F-D05EFFDF8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791200"/>
            <a:ext cx="1144588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  <a:contourClr>
              <a:schemeClr val="accent2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British</a:t>
            </a:r>
          </a:p>
        </p:txBody>
      </p:sp>
      <p:sp>
        <p:nvSpPr>
          <p:cNvPr id="54302" name="Rectangle 30">
            <a:extLst>
              <a:ext uri="{FF2B5EF4-FFF2-40B4-BE49-F238E27FC236}">
                <a16:creationId xmlns:a16="http://schemas.microsoft.com/office/drawing/2014/main" id="{CE43611C-9757-B05C-7B80-46DA2032F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5791200"/>
            <a:ext cx="1144587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  <a:contourClr>
              <a:schemeClr val="accent2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Soviet</a:t>
            </a:r>
          </a:p>
        </p:txBody>
      </p:sp>
      <p:sp>
        <p:nvSpPr>
          <p:cNvPr id="54303" name="Rectangle 31">
            <a:extLst>
              <a:ext uri="{FF2B5EF4-FFF2-40B4-BE49-F238E27FC236}">
                <a16:creationId xmlns:a16="http://schemas.microsoft.com/office/drawing/2014/main" id="{64C5708B-2AD3-038A-5A15-44828B5CA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953000"/>
            <a:ext cx="1144588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  <a:contourClr>
              <a:schemeClr val="accent2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American</a:t>
            </a:r>
          </a:p>
        </p:txBody>
      </p:sp>
      <p:sp>
        <p:nvSpPr>
          <p:cNvPr id="54304" name="Rectangle 32">
            <a:extLst>
              <a:ext uri="{FF2B5EF4-FFF2-40B4-BE49-F238E27FC236}">
                <a16:creationId xmlns:a16="http://schemas.microsoft.com/office/drawing/2014/main" id="{F28CDBA9-49C2-454E-FBD8-BCCCCE74D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4953000"/>
            <a:ext cx="1144587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  <a:contourClr>
              <a:schemeClr val="accent2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German</a:t>
            </a:r>
          </a:p>
        </p:txBody>
      </p:sp>
      <p:sp>
        <p:nvSpPr>
          <p:cNvPr id="54306" name="Rectangle 34">
            <a:extLst>
              <a:ext uri="{FF2B5EF4-FFF2-40B4-BE49-F238E27FC236}">
                <a16:creationId xmlns:a16="http://schemas.microsoft.com/office/drawing/2014/main" id="{258AB21C-8C36-4694-E4BF-D9FEEE5B1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791200"/>
            <a:ext cx="1144588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  <a:contourClr>
              <a:schemeClr val="accent2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British</a:t>
            </a:r>
          </a:p>
        </p:txBody>
      </p:sp>
      <p:sp>
        <p:nvSpPr>
          <p:cNvPr id="54307" name="Rectangle 35">
            <a:extLst>
              <a:ext uri="{FF2B5EF4-FFF2-40B4-BE49-F238E27FC236}">
                <a16:creationId xmlns:a16="http://schemas.microsoft.com/office/drawing/2014/main" id="{585D16FC-854C-BD91-523D-0254D8642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813" y="5791200"/>
            <a:ext cx="1144587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  <a:contourClr>
              <a:schemeClr val="accent2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Soviet</a:t>
            </a:r>
          </a:p>
        </p:txBody>
      </p:sp>
      <p:sp>
        <p:nvSpPr>
          <p:cNvPr id="54308" name="Rectangle 36">
            <a:extLst>
              <a:ext uri="{FF2B5EF4-FFF2-40B4-BE49-F238E27FC236}">
                <a16:creationId xmlns:a16="http://schemas.microsoft.com/office/drawing/2014/main" id="{F5683B67-20A8-253F-609D-F8B52DB22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953000"/>
            <a:ext cx="1144588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  <a:contourClr>
              <a:schemeClr val="accent2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American</a:t>
            </a:r>
          </a:p>
        </p:txBody>
      </p:sp>
      <p:sp>
        <p:nvSpPr>
          <p:cNvPr id="54309" name="Rectangle 37">
            <a:extLst>
              <a:ext uri="{FF2B5EF4-FFF2-40B4-BE49-F238E27FC236}">
                <a16:creationId xmlns:a16="http://schemas.microsoft.com/office/drawing/2014/main" id="{F73D3AA7-5710-7DC9-8740-0AFBF241F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813" y="4953000"/>
            <a:ext cx="1144587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  <a:contourClr>
              <a:schemeClr val="accent2"/>
            </a:contourClr>
          </a:sp3d>
        </p:spPr>
        <p:txBody>
          <a:bodyPr wrap="none" anchor="ctr">
            <a:flatTx/>
          </a:bodyPr>
          <a:lstStyle/>
          <a:p>
            <a:pPr algn="ctr"/>
            <a:r>
              <a:rPr lang="en-US" altLang="en-US">
                <a:solidFill>
                  <a:sysClr val="windowText" lastClr="000000"/>
                </a:solidFill>
              </a:rPr>
              <a:t>German</a:t>
            </a:r>
          </a:p>
        </p:txBody>
      </p:sp>
      <p:sp>
        <p:nvSpPr>
          <p:cNvPr id="54310" name="AutoShape 38">
            <a:extLst>
              <a:ext uri="{FF2B5EF4-FFF2-40B4-BE49-F238E27FC236}">
                <a16:creationId xmlns:a16="http://schemas.microsoft.com/office/drawing/2014/main" id="{48C9553D-4F0A-214F-FB52-96594566E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267200"/>
            <a:ext cx="5334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54311" name="AutoShape 39">
            <a:extLst>
              <a:ext uri="{FF2B5EF4-FFF2-40B4-BE49-F238E27FC236}">
                <a16:creationId xmlns:a16="http://schemas.microsoft.com/office/drawing/2014/main" id="{6073006B-734B-31AA-D3AA-2ABFC78E7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267200"/>
            <a:ext cx="5334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54312" name="AutoShape 40">
            <a:extLst>
              <a:ext uri="{FF2B5EF4-FFF2-40B4-BE49-F238E27FC236}">
                <a16:creationId xmlns:a16="http://schemas.microsoft.com/office/drawing/2014/main" id="{122A9459-53DE-EA26-3FEB-2AAE88270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267200"/>
            <a:ext cx="5334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ysClr val="windowText" lastClr="000000"/>
              </a:solidFill>
            </a:endParaRPr>
          </a:p>
        </p:txBody>
      </p:sp>
      <p:cxnSp>
        <p:nvCxnSpPr>
          <p:cNvPr id="54315" name="AutoShape 43">
            <a:extLst>
              <a:ext uri="{FF2B5EF4-FFF2-40B4-BE49-F238E27FC236}">
                <a16:creationId xmlns:a16="http://schemas.microsoft.com/office/drawing/2014/main" id="{9B515A73-829D-6ACD-4083-7CD6C98FABDD}"/>
              </a:ext>
            </a:extLst>
          </p:cNvPr>
          <p:cNvCxnSpPr>
            <a:cxnSpLocks noChangeShapeType="1"/>
            <a:stCxn id="54276" idx="2"/>
            <a:endCxn id="54277" idx="0"/>
          </p:cNvCxnSpPr>
          <p:nvPr/>
        </p:nvCxnSpPr>
        <p:spPr bwMode="auto">
          <a:xfrm rot="5400000">
            <a:off x="2514600" y="1562100"/>
            <a:ext cx="838200" cy="28956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9B9B9B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316" name="AutoShape 44">
            <a:extLst>
              <a:ext uri="{FF2B5EF4-FFF2-40B4-BE49-F238E27FC236}">
                <a16:creationId xmlns:a16="http://schemas.microsoft.com/office/drawing/2014/main" id="{B8BAFFF2-8CC4-8981-3B70-4D108476712A}"/>
              </a:ext>
            </a:extLst>
          </p:cNvPr>
          <p:cNvCxnSpPr>
            <a:cxnSpLocks noChangeShapeType="1"/>
            <a:stCxn id="54276" idx="2"/>
            <a:endCxn id="54286" idx="0"/>
          </p:cNvCxnSpPr>
          <p:nvPr/>
        </p:nvCxnSpPr>
        <p:spPr bwMode="auto">
          <a:xfrm rot="5400000">
            <a:off x="3962400" y="3009900"/>
            <a:ext cx="838200" cy="0"/>
          </a:xfrm>
          <a:prstGeom prst="straightConnector1">
            <a:avLst/>
          </a:prstGeom>
          <a:noFill/>
          <a:ln w="38100">
            <a:solidFill>
              <a:srgbClr val="9B9B9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317" name="AutoShape 45">
            <a:extLst>
              <a:ext uri="{FF2B5EF4-FFF2-40B4-BE49-F238E27FC236}">
                <a16:creationId xmlns:a16="http://schemas.microsoft.com/office/drawing/2014/main" id="{91BB4441-A980-2E9C-76AF-4A6C32653DA3}"/>
              </a:ext>
            </a:extLst>
          </p:cNvPr>
          <p:cNvCxnSpPr>
            <a:cxnSpLocks noChangeShapeType="1"/>
            <a:stCxn id="54276" idx="2"/>
            <a:endCxn id="54278" idx="0"/>
          </p:cNvCxnSpPr>
          <p:nvPr/>
        </p:nvCxnSpPr>
        <p:spPr bwMode="auto">
          <a:xfrm rot="16200000" flipH="1">
            <a:off x="5448300" y="1524000"/>
            <a:ext cx="838200" cy="29718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rgbClr val="9B9B9B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A960FBC3-7164-9F52-BE3B-300B42B6C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3200" b="1" dirty="0" err="1"/>
              <a:t>Disscusion</a:t>
            </a:r>
            <a:r>
              <a:rPr lang="en-US" altLang="en-US" sz="3200" b="1" dirty="0"/>
              <a:t> &amp; Project Gasal 26/27 :</a:t>
            </a:r>
            <a:br>
              <a:rPr lang="en-US" altLang="en-US" sz="3200" b="1" dirty="0"/>
            </a:br>
            <a:r>
              <a:rPr lang="en-US" altLang="en-US" sz="3200" b="1" dirty="0"/>
              <a:t>Design a Virtual Character AI</a:t>
            </a:r>
          </a:p>
        </p:txBody>
      </p:sp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58FC801C-A620-8317-EF7B-6C3E666C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424F36B-8F77-4295-AC79-02ECD0856360}" type="slidenum">
              <a:rPr lang="en-US" altLang="en-US">
                <a:latin typeface="Arial" panose="020B0604020202020204" pitchFamily="34" charset="0"/>
              </a:rPr>
              <a:pPr/>
              <a:t>50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AB6DD72B-3EA6-FFFC-F955-8C7F73C30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95475"/>
            <a:ext cx="8382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3200" b="1" dirty="0"/>
              <a:t>Virtual Character:</a:t>
            </a:r>
          </a:p>
          <a:p>
            <a:pPr algn="just">
              <a:buFontTx/>
              <a:buChar char="•"/>
            </a:pPr>
            <a:r>
              <a:rPr lang="en-US" altLang="en-US" sz="3200" b="1" dirty="0"/>
              <a:t>Kelompok 1: </a:t>
            </a:r>
            <a:r>
              <a:rPr lang="en-US" altLang="en-US" sz="3200" dirty="0"/>
              <a:t>Jedi (Ahsoka Tano/Mace Windu)</a:t>
            </a:r>
          </a:p>
          <a:p>
            <a:pPr algn="just">
              <a:buFontTx/>
              <a:buChar char="•"/>
            </a:pPr>
            <a:r>
              <a:rPr lang="en-US" altLang="en-US" sz="3200" b="1" dirty="0"/>
              <a:t>Kelompok 2: </a:t>
            </a:r>
            <a:r>
              <a:rPr lang="en-US" altLang="en-US" sz="3200" dirty="0"/>
              <a:t>Sith (Darth Vader/Darth Maul)</a:t>
            </a:r>
          </a:p>
          <a:p>
            <a:pPr algn="just">
              <a:buFontTx/>
              <a:buChar char="•"/>
            </a:pPr>
            <a:r>
              <a:rPr lang="en-US" altLang="en-US" sz="3200" b="1" dirty="0"/>
              <a:t>Kelompok 3: </a:t>
            </a:r>
            <a:r>
              <a:rPr lang="en-US" altLang="en-US" sz="3200" dirty="0"/>
              <a:t>Mandalorian &amp; Grogu (1.5 orang)</a:t>
            </a:r>
          </a:p>
          <a:p>
            <a:pPr algn="just">
              <a:buFontTx/>
              <a:buChar char="•"/>
            </a:pPr>
            <a:r>
              <a:rPr lang="en-US" altLang="en-US" sz="3200" b="1" dirty="0"/>
              <a:t>Kelompok 4: </a:t>
            </a:r>
            <a:r>
              <a:rPr lang="en-US" altLang="en-US" sz="3200" dirty="0" err="1"/>
              <a:t>Chirrut</a:t>
            </a:r>
            <a:r>
              <a:rPr lang="en-US" altLang="en-US" sz="3200" dirty="0"/>
              <a:t> </a:t>
            </a:r>
            <a:r>
              <a:rPr lang="en-US" altLang="en-US" sz="3200" dirty="0" err="1"/>
              <a:t>Îmwe</a:t>
            </a:r>
            <a:r>
              <a:rPr lang="en-US" altLang="en-US" sz="3200" dirty="0"/>
              <a:t> &amp; Baze </a:t>
            </a:r>
            <a:r>
              <a:rPr lang="en-US" altLang="en-US" sz="3200" dirty="0" err="1"/>
              <a:t>Malbus</a:t>
            </a:r>
            <a:endParaRPr lang="en-US" altLang="en-US" sz="3200" dirty="0"/>
          </a:p>
          <a:p>
            <a:pPr algn="just">
              <a:buFontTx/>
              <a:buChar char="•"/>
            </a:pPr>
            <a:r>
              <a:rPr lang="en-US" altLang="en-US" sz="3200" b="1" dirty="0"/>
              <a:t>Kelompok 5: </a:t>
            </a:r>
            <a:r>
              <a:rPr lang="en-US" altLang="en-US" sz="3200" dirty="0"/>
              <a:t>Boba Fett &amp; Fennec Shand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7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7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7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7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7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7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7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7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7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7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7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7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7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7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7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7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Quadran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Quadrant 1">
        <a:dk1>
          <a:srgbClr val="5C5674"/>
        </a:dk1>
        <a:lt1>
          <a:srgbClr val="FFFFFF"/>
        </a:lt1>
        <a:dk2>
          <a:srgbClr val="85986A"/>
        </a:dk2>
        <a:lt2>
          <a:srgbClr val="FFFFFF"/>
        </a:lt2>
        <a:accent1>
          <a:srgbClr val="666633"/>
        </a:accent1>
        <a:accent2>
          <a:srgbClr val="ADC5B8"/>
        </a:accent2>
        <a:accent3>
          <a:srgbClr val="C2CAB9"/>
        </a:accent3>
        <a:accent4>
          <a:srgbClr val="DADADA"/>
        </a:accent4>
        <a:accent5>
          <a:srgbClr val="B8B8AD"/>
        </a:accent5>
        <a:accent6>
          <a:srgbClr val="9CB2A6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2">
        <a:dk1>
          <a:srgbClr val="000000"/>
        </a:dk1>
        <a:lt1>
          <a:srgbClr val="FFFFFF"/>
        </a:lt1>
        <a:dk2>
          <a:srgbClr val="420000"/>
        </a:dk2>
        <a:lt2>
          <a:srgbClr val="660000"/>
        </a:lt2>
        <a:accent1>
          <a:srgbClr val="CCCC00"/>
        </a:accent1>
        <a:accent2>
          <a:srgbClr val="999966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8A8A5C"/>
        </a:accent6>
        <a:hlink>
          <a:srgbClr val="996633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3">
        <a:dk1>
          <a:srgbClr val="618052"/>
        </a:dk1>
        <a:lt1>
          <a:srgbClr val="FFFFE3"/>
        </a:lt1>
        <a:dk2>
          <a:srgbClr val="162E36"/>
        </a:dk2>
        <a:lt2>
          <a:srgbClr val="FFFFFF"/>
        </a:lt2>
        <a:accent1>
          <a:srgbClr val="336699"/>
        </a:accent1>
        <a:accent2>
          <a:srgbClr val="69888B"/>
        </a:accent2>
        <a:accent3>
          <a:srgbClr val="ABADAE"/>
        </a:accent3>
        <a:accent4>
          <a:srgbClr val="DADAC2"/>
        </a:accent4>
        <a:accent5>
          <a:srgbClr val="ADB8CA"/>
        </a:accent5>
        <a:accent6>
          <a:srgbClr val="5E7B7D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4">
        <a:dk1>
          <a:srgbClr val="000000"/>
        </a:dk1>
        <a:lt1>
          <a:srgbClr val="FFFFFF"/>
        </a:lt1>
        <a:dk2>
          <a:srgbClr val="000000"/>
        </a:dk2>
        <a:lt2>
          <a:srgbClr val="CC0000"/>
        </a:lt2>
        <a:accent1>
          <a:srgbClr val="FFCC00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5CB9"/>
        </a:accent6>
        <a:hlink>
          <a:srgbClr val="666699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5">
        <a:dk1>
          <a:srgbClr val="666699"/>
        </a:dk1>
        <a:lt1>
          <a:srgbClr val="FFFFFF"/>
        </a:lt1>
        <a:dk2>
          <a:srgbClr val="000033"/>
        </a:dk2>
        <a:lt2>
          <a:srgbClr val="FFFFFF"/>
        </a:lt2>
        <a:accent1>
          <a:srgbClr val="9966FF"/>
        </a:accent1>
        <a:accent2>
          <a:srgbClr val="CCCCFF"/>
        </a:accent2>
        <a:accent3>
          <a:srgbClr val="AAAAAD"/>
        </a:accent3>
        <a:accent4>
          <a:srgbClr val="DADADA"/>
        </a:accent4>
        <a:accent5>
          <a:srgbClr val="CAB8FF"/>
        </a:accent5>
        <a:accent6>
          <a:srgbClr val="B9B9E7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6">
        <a:dk1>
          <a:srgbClr val="000000"/>
        </a:dk1>
        <a:lt1>
          <a:srgbClr val="FFFFFF"/>
        </a:lt1>
        <a:dk2>
          <a:srgbClr val="000000"/>
        </a:dk2>
        <a:lt2>
          <a:srgbClr val="669966"/>
        </a:lt2>
        <a:accent1>
          <a:srgbClr val="CCCC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8AB9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7">
        <a:dk1>
          <a:srgbClr val="0099CC"/>
        </a:dk1>
        <a:lt1>
          <a:srgbClr val="FFFFFF"/>
        </a:lt1>
        <a:dk2>
          <a:srgbClr val="000099"/>
        </a:dk2>
        <a:lt2>
          <a:srgbClr val="FFFFFF"/>
        </a:lt2>
        <a:accent1>
          <a:srgbClr val="0099CC"/>
        </a:accent1>
        <a:accent2>
          <a:srgbClr val="6600FF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5C00E7"/>
        </a:accent6>
        <a:hlink>
          <a:srgbClr val="FFCC00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8">
        <a:dk1>
          <a:srgbClr val="000033"/>
        </a:dk1>
        <a:lt1>
          <a:srgbClr val="FFFFFF"/>
        </a:lt1>
        <a:dk2>
          <a:srgbClr val="003366"/>
        </a:dk2>
        <a:lt2>
          <a:srgbClr val="275C6D"/>
        </a:lt2>
        <a:accent1>
          <a:srgbClr val="A7D2DF"/>
        </a:accent1>
        <a:accent2>
          <a:srgbClr val="108DA6"/>
        </a:accent2>
        <a:accent3>
          <a:srgbClr val="FFFFFF"/>
        </a:accent3>
        <a:accent4>
          <a:srgbClr val="00002A"/>
        </a:accent4>
        <a:accent5>
          <a:srgbClr val="D0E5EC"/>
        </a:accent5>
        <a:accent6>
          <a:srgbClr val="0D7F96"/>
        </a:accent6>
        <a:hlink>
          <a:srgbClr val="666699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9">
        <a:dk1>
          <a:srgbClr val="CC33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9933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8A2D00"/>
        </a:accent6>
        <a:hlink>
          <a:srgbClr val="CEC5A2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Kuliah 5b GAI (Minimax, Alpha Beta Pruning, Game of Chance)</Template>
  <TotalTime>1452</TotalTime>
  <Words>3343</Words>
  <Application>Microsoft Office PowerPoint</Application>
  <PresentationFormat>On-screen Show (4:3)</PresentationFormat>
  <Paragraphs>602</Paragraphs>
  <Slides>50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Arial MT</vt:lpstr>
      <vt:lpstr>Calibri</vt:lpstr>
      <vt:lpstr>Consolas</vt:lpstr>
      <vt:lpstr>Courier New</vt:lpstr>
      <vt:lpstr>Times New Roman</vt:lpstr>
      <vt:lpstr>Verdana</vt:lpstr>
      <vt:lpstr>Wingdings</vt:lpstr>
      <vt:lpstr>Quadrant</vt:lpstr>
      <vt:lpstr>Game AI</vt:lpstr>
      <vt:lpstr>Turn Base Games Achievement </vt:lpstr>
      <vt:lpstr>Real Time Games</vt:lpstr>
      <vt:lpstr>Real Time Abstract Controller</vt:lpstr>
      <vt:lpstr>Real Time Abstract Controller</vt:lpstr>
      <vt:lpstr>Rule-based AI</vt:lpstr>
      <vt:lpstr>Rule-based Systems for Games</vt:lpstr>
      <vt:lpstr>Example: Fighting Game Strike Prediction</vt:lpstr>
      <vt:lpstr>Rule-Based Systems</vt:lpstr>
      <vt:lpstr>Rule-Based Systems Structure</vt:lpstr>
      <vt:lpstr>AI Cycle</vt:lpstr>
      <vt:lpstr>Example: Medieval RTS game</vt:lpstr>
      <vt:lpstr>Example: Medieval RTS game</vt:lpstr>
      <vt:lpstr>Example: Tracking Enemy (player) technology</vt:lpstr>
      <vt:lpstr>Example: Tracking Enemy (player) technology</vt:lpstr>
      <vt:lpstr>Inference in Rule-based Systems</vt:lpstr>
      <vt:lpstr>Inference in Rule-based Systems</vt:lpstr>
      <vt:lpstr>Rule-based System Basics</vt:lpstr>
      <vt:lpstr>Rule-based System Basics</vt:lpstr>
      <vt:lpstr>Rule-based System Basics</vt:lpstr>
      <vt:lpstr>Optimization of RBS</vt:lpstr>
      <vt:lpstr>Influence Maps1</vt:lpstr>
      <vt:lpstr>Influence Maps</vt:lpstr>
      <vt:lpstr>Influence Maps</vt:lpstr>
      <vt:lpstr>Influence Propagation</vt:lpstr>
      <vt:lpstr>Influence Propagation</vt:lpstr>
      <vt:lpstr>Influence Propagation</vt:lpstr>
      <vt:lpstr>Weighted Sums for Desirability</vt:lpstr>
      <vt:lpstr>Alternative to Weighted Sums</vt:lpstr>
      <vt:lpstr>Finite State Machines (Otomata) </vt:lpstr>
      <vt:lpstr>FSM’s in Theory</vt:lpstr>
      <vt:lpstr>FSM’s in Practice</vt:lpstr>
      <vt:lpstr>FSM’s in Games</vt:lpstr>
      <vt:lpstr>Finite State Machines </vt:lpstr>
      <vt:lpstr>Finite State Machines </vt:lpstr>
      <vt:lpstr>Finite State Machines</vt:lpstr>
      <vt:lpstr>PowerPoint Presentation</vt:lpstr>
      <vt:lpstr>PowerPoint Presentation</vt:lpstr>
      <vt:lpstr>PowerPoint Presentation</vt:lpstr>
      <vt:lpstr>Nondeterministic FSM</vt:lpstr>
      <vt:lpstr>Hierarchical FSM</vt:lpstr>
      <vt:lpstr>Hierarchical FSM Example</vt:lpstr>
      <vt:lpstr>Hierarchical FSMs in Destroy All Humans 2</vt:lpstr>
      <vt:lpstr>Hierarchical FSMs in Destroy All Humans 2</vt:lpstr>
      <vt:lpstr>Non-Deterministic Hierarchical FSM  </vt:lpstr>
      <vt:lpstr>FSM Example</vt:lpstr>
      <vt:lpstr>Stack FSM – Thief 3</vt:lpstr>
      <vt:lpstr>More FSM Extensions</vt:lpstr>
      <vt:lpstr>Polymorphic FSM Example</vt:lpstr>
      <vt:lpstr>Disscusion &amp; Project Gasal 26/27 : Design a Virtual Character AI</vt:lpstr>
    </vt:vector>
  </TitlesOfParts>
  <Company>Eagle's Nest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Playing</dc:title>
  <dc:creator>Eagle</dc:creator>
  <cp:lastModifiedBy>Gregorius Satia Budhi</cp:lastModifiedBy>
  <cp:revision>104</cp:revision>
  <dcterms:created xsi:type="dcterms:W3CDTF">2009-03-11T02:15:02Z</dcterms:created>
  <dcterms:modified xsi:type="dcterms:W3CDTF">2026-10-08T02:57:23Z</dcterms:modified>
</cp:coreProperties>
</file>